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477" r:id="rId3"/>
    <p:sldId id="258" r:id="rId4"/>
    <p:sldId id="344" r:id="rId5"/>
    <p:sldId id="263" r:id="rId6"/>
    <p:sldId id="390" r:id="rId7"/>
    <p:sldId id="470" r:id="rId8"/>
    <p:sldId id="471" r:id="rId9"/>
    <p:sldId id="472" r:id="rId10"/>
    <p:sldId id="473" r:id="rId11"/>
    <p:sldId id="466" r:id="rId12"/>
    <p:sldId id="467" r:id="rId13"/>
    <p:sldId id="468" r:id="rId14"/>
    <p:sldId id="469" r:id="rId15"/>
    <p:sldId id="474" r:id="rId16"/>
    <p:sldId id="475" r:id="rId17"/>
    <p:sldId id="345" r:id="rId18"/>
    <p:sldId id="476" r:id="rId19"/>
    <p:sldId id="357" r:id="rId20"/>
    <p:sldId id="26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18B8"/>
    <a:srgbClr val="002060"/>
    <a:srgbClr val="BDD7EE"/>
    <a:srgbClr val="FBE5D6"/>
    <a:srgbClr val="717CFF"/>
    <a:srgbClr val="CCCCFF"/>
    <a:srgbClr val="DEEBF7"/>
    <a:srgbClr val="4889F8"/>
    <a:srgbClr val="FFF5E4"/>
    <a:srgbClr val="FDF7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1D5EF1-DDF4-4E7E-9F14-C7E6822AC6C6}" v="1" dt="2026-01-26T14:01:03.823"/>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5" autoAdjust="0"/>
    <p:restoredTop sz="94698"/>
  </p:normalViewPr>
  <p:slideViewPr>
    <p:cSldViewPr snapToGrid="0">
      <p:cViewPr>
        <p:scale>
          <a:sx n="55" d="100"/>
          <a:sy n="55" d="100"/>
        </p:scale>
        <p:origin x="1048"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wanth Guptha" userId="0bb4cbea41a3e4f2" providerId="LiveId" clId="{52A833C7-0927-4B00-BECF-32A134E4F6A2}"/>
    <pc:docChg chg="custSel modSld">
      <pc:chgData name="Yaswanth Guptha" userId="0bb4cbea41a3e4f2" providerId="LiveId" clId="{52A833C7-0927-4B00-BECF-32A134E4F6A2}" dt="2026-01-26T14:01:03.823" v="1"/>
      <pc:docMkLst>
        <pc:docMk/>
      </pc:docMkLst>
      <pc:sldChg chg="addSp delSp modSp mod">
        <pc:chgData name="Yaswanth Guptha" userId="0bb4cbea41a3e4f2" providerId="LiveId" clId="{52A833C7-0927-4B00-BECF-32A134E4F6A2}" dt="2026-01-26T14:01:03.823" v="1"/>
        <pc:sldMkLst>
          <pc:docMk/>
          <pc:sldMk cId="1181822957" sldId="465"/>
        </pc:sldMkLst>
        <pc:spChg chg="del">
          <ac:chgData name="Yaswanth Guptha" userId="0bb4cbea41a3e4f2" providerId="LiveId" clId="{52A833C7-0927-4B00-BECF-32A134E4F6A2}" dt="2026-01-26T14:00:53.611" v="0" actId="478"/>
          <ac:spMkLst>
            <pc:docMk/>
            <pc:sldMk cId="1181822957" sldId="465"/>
            <ac:spMk id="2" creationId="{2CA4977C-3EF7-5456-51AA-379A10BFA54D}"/>
          </ac:spMkLst>
        </pc:spChg>
        <pc:spChg chg="add mod">
          <ac:chgData name="Yaswanth Guptha" userId="0bb4cbea41a3e4f2" providerId="LiveId" clId="{52A833C7-0927-4B00-BECF-32A134E4F6A2}" dt="2026-01-26T14:01:03.823" v="1"/>
          <ac:spMkLst>
            <pc:docMk/>
            <pc:sldMk cId="1181822957" sldId="465"/>
            <ac:spMk id="3" creationId="{324BD2DD-9047-9068-E69D-002C34465578}"/>
          </ac:spMkLst>
        </pc:spChg>
        <pc:spChg chg="del">
          <ac:chgData name="Yaswanth Guptha" userId="0bb4cbea41a3e4f2" providerId="LiveId" clId="{52A833C7-0927-4B00-BECF-32A134E4F6A2}" dt="2026-01-26T14:00:53.611" v="0" actId="478"/>
          <ac:spMkLst>
            <pc:docMk/>
            <pc:sldMk cId="1181822957" sldId="465"/>
            <ac:spMk id="4" creationId="{BB20B72C-664B-FD5C-EDA6-0784C51EA99D}"/>
          </ac:spMkLst>
        </pc:spChg>
        <pc:spChg chg="del">
          <ac:chgData name="Yaswanth Guptha" userId="0bb4cbea41a3e4f2" providerId="LiveId" clId="{52A833C7-0927-4B00-BECF-32A134E4F6A2}" dt="2026-01-26T14:00:53.611" v="0" actId="478"/>
          <ac:spMkLst>
            <pc:docMk/>
            <pc:sldMk cId="1181822957" sldId="465"/>
            <ac:spMk id="5" creationId="{9F8023F4-A04D-D5CF-1368-C24CCF2F1BEF}"/>
          </ac:spMkLst>
        </pc:spChg>
        <pc:spChg chg="add mod">
          <ac:chgData name="Yaswanth Guptha" userId="0bb4cbea41a3e4f2" providerId="LiveId" clId="{52A833C7-0927-4B00-BECF-32A134E4F6A2}" dt="2026-01-26T14:01:03.823" v="1"/>
          <ac:spMkLst>
            <pc:docMk/>
            <pc:sldMk cId="1181822957" sldId="465"/>
            <ac:spMk id="7" creationId="{1AF0DA32-04E5-C48B-6AC5-2FBF416055BD}"/>
          </ac:spMkLst>
        </pc:spChg>
        <pc:spChg chg="del">
          <ac:chgData name="Yaswanth Guptha" userId="0bb4cbea41a3e4f2" providerId="LiveId" clId="{52A833C7-0927-4B00-BECF-32A134E4F6A2}" dt="2026-01-26T14:00:53.611" v="0" actId="478"/>
          <ac:spMkLst>
            <pc:docMk/>
            <pc:sldMk cId="1181822957" sldId="465"/>
            <ac:spMk id="8" creationId="{AB115080-8C3C-C43E-1CDF-E3955B2D02EC}"/>
          </ac:spMkLst>
        </pc:spChg>
        <pc:spChg chg="add mod">
          <ac:chgData name="Yaswanth Guptha" userId="0bb4cbea41a3e4f2" providerId="LiveId" clId="{52A833C7-0927-4B00-BECF-32A134E4F6A2}" dt="2026-01-26T14:01:03.823" v="1"/>
          <ac:spMkLst>
            <pc:docMk/>
            <pc:sldMk cId="1181822957" sldId="465"/>
            <ac:spMk id="10" creationId="{FAFD71F5-48AD-F717-FBAA-F297F0BE6106}"/>
          </ac:spMkLst>
        </pc:spChg>
        <pc:spChg chg="add mod">
          <ac:chgData name="Yaswanth Guptha" userId="0bb4cbea41a3e4f2" providerId="LiveId" clId="{52A833C7-0927-4B00-BECF-32A134E4F6A2}" dt="2026-01-26T14:01:03.823" v="1"/>
          <ac:spMkLst>
            <pc:docMk/>
            <pc:sldMk cId="1181822957" sldId="465"/>
            <ac:spMk id="11" creationId="{F9ABCE0D-0B5C-91A6-675E-5BBC6252F8EC}"/>
          </ac:spMkLst>
        </pc:spChg>
        <pc:graphicFrameChg chg="add mod">
          <ac:chgData name="Yaswanth Guptha" userId="0bb4cbea41a3e4f2" providerId="LiveId" clId="{52A833C7-0927-4B00-BECF-32A134E4F6A2}" dt="2026-01-26T14:01:03.823" v="1"/>
          <ac:graphicFrameMkLst>
            <pc:docMk/>
            <pc:sldMk cId="1181822957" sldId="465"/>
            <ac:graphicFrameMk id="12" creationId="{094E2E85-85A8-0DB4-84CF-8140904D3E19}"/>
          </ac:graphicFrameMkLst>
        </pc:graphicFrameChg>
        <pc:picChg chg="del">
          <ac:chgData name="Yaswanth Guptha" userId="0bb4cbea41a3e4f2" providerId="LiveId" clId="{52A833C7-0927-4B00-BECF-32A134E4F6A2}" dt="2026-01-26T14:00:53.611" v="0" actId="478"/>
          <ac:picMkLst>
            <pc:docMk/>
            <pc:sldMk cId="1181822957" sldId="465"/>
            <ac:picMk id="6" creationId="{F52B69C2-08CE-5BC1-E950-F23C94F43B97}"/>
          </ac:picMkLst>
        </pc:picChg>
        <pc:picChg chg="add mod">
          <ac:chgData name="Yaswanth Guptha" userId="0bb4cbea41a3e4f2" providerId="LiveId" clId="{52A833C7-0927-4B00-BECF-32A134E4F6A2}" dt="2026-01-26T14:01:03.823" v="1"/>
          <ac:picMkLst>
            <pc:docMk/>
            <pc:sldMk cId="1181822957" sldId="465"/>
            <ac:picMk id="9" creationId="{5A07068B-735F-32C8-AFCF-FA940769CE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AE0A7-2698-4380-A399-1C1AED523621}" type="datetimeFigureOut">
              <a:rPr lang="en-IN" smtClean="0"/>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537FC-0370-4D6F-91F5-1B6434F65021}" type="slidenum">
              <a:rPr lang="en-IN" smtClean="0"/>
              <a:t>‹#›</a:t>
            </a:fld>
            <a:endParaRPr lang="en-IN"/>
          </a:p>
        </p:txBody>
      </p:sp>
    </p:spTree>
    <p:extLst>
      <p:ext uri="{BB962C8B-B14F-4D97-AF65-F5344CB8AC3E}">
        <p14:creationId xmlns:p14="http://schemas.microsoft.com/office/powerpoint/2010/main" val="496913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1249-518E-CC0B-76FA-6288CBC8FC8A}"/>
              </a:ext>
            </a:extLst>
          </p:cNvPr>
          <p:cNvSpPr>
            <a:spLocks noGrp="1"/>
          </p:cNvSpPr>
          <p:nvPr>
            <p:ph type="ctrTitle"/>
          </p:nvPr>
        </p:nvSpPr>
        <p:spPr>
          <a:xfrm>
            <a:off x="1524000" y="1122363"/>
            <a:ext cx="9144000" cy="2387600"/>
          </a:xfrm>
        </p:spPr>
        <p:txBody>
          <a:bodyPr anchor="b">
            <a:normAutofit/>
          </a:bodyPr>
          <a:lstStyle>
            <a:lvl1pPr algn="ctr">
              <a:defRPr sz="5401"/>
            </a:lvl1pPr>
          </a:lstStyle>
          <a:p>
            <a:r>
              <a:rPr lang="en-US"/>
              <a:t>Click to edit Master title style</a:t>
            </a:r>
            <a:endParaRPr lang="en-IN" dirty="0"/>
          </a:p>
        </p:txBody>
      </p:sp>
      <p:sp>
        <p:nvSpPr>
          <p:cNvPr id="3" name="Subtitle 2">
            <a:extLst>
              <a:ext uri="{FF2B5EF4-FFF2-40B4-BE49-F238E27FC236}">
                <a16:creationId xmlns:a16="http://schemas.microsoft.com/office/drawing/2014/main" id="{66139686-94D7-E408-BB73-ED9400C2E8C1}"/>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IN" dirty="0"/>
          </a:p>
        </p:txBody>
      </p:sp>
      <p:sp>
        <p:nvSpPr>
          <p:cNvPr id="4" name="Date Placeholder 3">
            <a:extLst>
              <a:ext uri="{FF2B5EF4-FFF2-40B4-BE49-F238E27FC236}">
                <a16:creationId xmlns:a16="http://schemas.microsoft.com/office/drawing/2014/main" id="{73B2C1BB-F2A9-E8B4-8A18-7F25689BC896}"/>
              </a:ext>
            </a:extLst>
          </p:cNvPr>
          <p:cNvSpPr>
            <a:spLocks noGrp="1"/>
          </p:cNvSpPr>
          <p:nvPr>
            <p:ph type="dt" sz="half" idx="10"/>
          </p:nvPr>
        </p:nvSpPr>
        <p:spPr/>
        <p:txBody>
          <a:bodyPr/>
          <a:lstStyle/>
          <a:p>
            <a:fld id="{460C12D2-8E26-4B4F-92EE-391E9D2332F9}" type="datetime1">
              <a:rPr lang="en-IN" smtClean="0"/>
              <a:t>08-04-2026</a:t>
            </a:fld>
            <a:endParaRPr lang="en-IN"/>
          </a:p>
        </p:txBody>
      </p:sp>
      <p:sp>
        <p:nvSpPr>
          <p:cNvPr id="5" name="Footer Placeholder 4">
            <a:extLst>
              <a:ext uri="{FF2B5EF4-FFF2-40B4-BE49-F238E27FC236}">
                <a16:creationId xmlns:a16="http://schemas.microsoft.com/office/drawing/2014/main" id="{261FFDE0-FEA3-1E55-5BB9-FA30137495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AEA763-E947-137A-E86C-62BA8A1FEAC0}"/>
              </a:ext>
            </a:extLst>
          </p:cNvPr>
          <p:cNvSpPr>
            <a:spLocks noGrp="1"/>
          </p:cNvSpPr>
          <p:nvPr>
            <p:ph type="sldNum" sz="quarter" idx="12"/>
          </p:nvPr>
        </p:nvSpPr>
        <p:spPr/>
        <p:txBody>
          <a:bodyPr/>
          <a:lstStyle/>
          <a:p>
            <a:fld id="{03F67448-8E76-4088-8C0F-9DC880FFD75C}" type="slidenum">
              <a:rPr lang="en-IN" smtClean="0"/>
              <a:t>‹#›</a:t>
            </a:fld>
            <a:endParaRPr lang="en-IN"/>
          </a:p>
        </p:txBody>
      </p:sp>
      <p:sp>
        <p:nvSpPr>
          <p:cNvPr id="9" name="Rectangle 8">
            <a:extLst>
              <a:ext uri="{FF2B5EF4-FFF2-40B4-BE49-F238E27FC236}">
                <a16:creationId xmlns:a16="http://schemas.microsoft.com/office/drawing/2014/main" id="{D7E1D929-6542-56DE-5A4E-D8BF7C8C8E82}"/>
              </a:ext>
            </a:extLst>
          </p:cNvPr>
          <p:cNvSpPr/>
          <p:nvPr/>
        </p:nvSpPr>
        <p:spPr>
          <a:xfrm>
            <a:off x="9971314" y="1600202"/>
            <a:ext cx="2220686" cy="8817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Tree>
    <p:extLst>
      <p:ext uri="{BB962C8B-B14F-4D97-AF65-F5344CB8AC3E}">
        <p14:creationId xmlns:p14="http://schemas.microsoft.com/office/powerpoint/2010/main" val="172725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79AA-9CFC-A341-B059-2E1B1188695E}"/>
              </a:ext>
            </a:extLst>
          </p:cNvPr>
          <p:cNvSpPr>
            <a:spLocks noGrp="1"/>
          </p:cNvSpPr>
          <p:nvPr>
            <p:ph type="title"/>
          </p:nvPr>
        </p:nvSpPr>
        <p:spPr/>
        <p:txBody>
          <a:body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667966AE-6563-2FED-E6A1-832832D0F8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B150E-EB3F-B5B8-A254-52BDFAE6E88E}"/>
              </a:ext>
            </a:extLst>
          </p:cNvPr>
          <p:cNvSpPr>
            <a:spLocks noGrp="1"/>
          </p:cNvSpPr>
          <p:nvPr>
            <p:ph type="dt" sz="half" idx="10"/>
          </p:nvPr>
        </p:nvSpPr>
        <p:spPr/>
        <p:txBody>
          <a:bodyPr/>
          <a:lstStyle/>
          <a:p>
            <a:fld id="{7A351DCE-B476-408A-B703-10BDB3CE1D41}" type="datetime1">
              <a:rPr lang="en-IN" smtClean="0"/>
              <a:t>08-04-2026</a:t>
            </a:fld>
            <a:endParaRPr lang="en-IN"/>
          </a:p>
        </p:txBody>
      </p:sp>
      <p:sp>
        <p:nvSpPr>
          <p:cNvPr id="5" name="Footer Placeholder 4">
            <a:extLst>
              <a:ext uri="{FF2B5EF4-FFF2-40B4-BE49-F238E27FC236}">
                <a16:creationId xmlns:a16="http://schemas.microsoft.com/office/drawing/2014/main" id="{4D7E16E8-5DCB-9AB9-B0DC-E5701F63C2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F7D4D-5742-5775-0AA6-5088C7890F49}"/>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2425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2316-8B40-1151-D794-F1415329C0EA}"/>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A7457E-1929-BE0E-5242-42F609B7704A}"/>
              </a:ext>
            </a:extLst>
          </p:cNvPr>
          <p:cNvSpPr>
            <a:spLocks noGrp="1"/>
          </p:cNvSpPr>
          <p:nvPr>
            <p:ph type="body" idx="1"/>
          </p:nvPr>
        </p:nvSpPr>
        <p:spPr>
          <a:xfrm>
            <a:off x="831853" y="4589465"/>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5607D-DF07-C8DB-6FBC-12A28F1A67F5}"/>
              </a:ext>
            </a:extLst>
          </p:cNvPr>
          <p:cNvSpPr>
            <a:spLocks noGrp="1"/>
          </p:cNvSpPr>
          <p:nvPr>
            <p:ph type="dt" sz="half" idx="10"/>
          </p:nvPr>
        </p:nvSpPr>
        <p:spPr/>
        <p:txBody>
          <a:bodyPr/>
          <a:lstStyle/>
          <a:p>
            <a:fld id="{2BE62A82-D98D-45F2-99F3-B9EDDE6F09EC}" type="datetime1">
              <a:rPr lang="en-IN" smtClean="0"/>
              <a:t>08-04-2026</a:t>
            </a:fld>
            <a:endParaRPr lang="en-IN"/>
          </a:p>
        </p:txBody>
      </p:sp>
      <p:sp>
        <p:nvSpPr>
          <p:cNvPr id="5" name="Footer Placeholder 4">
            <a:extLst>
              <a:ext uri="{FF2B5EF4-FFF2-40B4-BE49-F238E27FC236}">
                <a16:creationId xmlns:a16="http://schemas.microsoft.com/office/drawing/2014/main" id="{A1E05BDD-5CEA-ADA1-3500-B4949558C9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99D001-C6CC-ED7B-30E0-22F874C1CD8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51749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9F32-1422-AAD2-918E-31F7E036D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256CC-8A55-346A-E32F-3365C17796DF}"/>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181630-F8AB-F543-8012-871550A8E683}"/>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770D87-C03A-FEE3-4FAF-6F2B440DFC4F}"/>
              </a:ext>
            </a:extLst>
          </p:cNvPr>
          <p:cNvSpPr>
            <a:spLocks noGrp="1"/>
          </p:cNvSpPr>
          <p:nvPr>
            <p:ph type="dt" sz="half" idx="10"/>
          </p:nvPr>
        </p:nvSpPr>
        <p:spPr/>
        <p:txBody>
          <a:bodyPr/>
          <a:lstStyle/>
          <a:p>
            <a:fld id="{8090B523-9E15-4469-A757-382DAEAAE4D6}" type="datetime1">
              <a:rPr lang="en-IN" smtClean="0"/>
              <a:t>08-04-2026</a:t>
            </a:fld>
            <a:endParaRPr lang="en-IN"/>
          </a:p>
        </p:txBody>
      </p:sp>
      <p:sp>
        <p:nvSpPr>
          <p:cNvPr id="6" name="Footer Placeholder 5">
            <a:extLst>
              <a:ext uri="{FF2B5EF4-FFF2-40B4-BE49-F238E27FC236}">
                <a16:creationId xmlns:a16="http://schemas.microsoft.com/office/drawing/2014/main" id="{DE761CB0-B6D4-7325-15E8-1D7F1C5D5E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D26A6-48FC-25EC-ED5E-606D13933D91}"/>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735251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CD5F-B640-7E37-D761-6D1196FB6F73}"/>
              </a:ext>
            </a:extLst>
          </p:cNvPr>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8BC5C-1238-3A1B-8C5F-BD95BE142E9B}"/>
              </a:ext>
            </a:extLst>
          </p:cNvPr>
          <p:cNvSpPr>
            <a:spLocks noGrp="1"/>
          </p:cNvSpPr>
          <p:nvPr>
            <p:ph type="body" idx="1"/>
          </p:nvPr>
        </p:nvSpPr>
        <p:spPr>
          <a:xfrm>
            <a:off x="839791"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FC92C-5F91-03B4-2431-DA308C4C51D4}"/>
              </a:ext>
            </a:extLst>
          </p:cNvPr>
          <p:cNvSpPr>
            <a:spLocks noGrp="1"/>
          </p:cNvSpPr>
          <p:nvPr>
            <p:ph sz="half" idx="2"/>
          </p:nvPr>
        </p:nvSpPr>
        <p:spPr>
          <a:xfrm>
            <a:off x="839791"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0E16B-CCA1-23A7-152C-AC65C7298DA1}"/>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86B096-CF91-3CAB-8BC9-A02C04AEFEC5}"/>
              </a:ext>
            </a:extLst>
          </p:cNvPr>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67F73F-87D8-B854-6173-65901670596E}"/>
              </a:ext>
            </a:extLst>
          </p:cNvPr>
          <p:cNvSpPr>
            <a:spLocks noGrp="1"/>
          </p:cNvSpPr>
          <p:nvPr>
            <p:ph type="dt" sz="half" idx="10"/>
          </p:nvPr>
        </p:nvSpPr>
        <p:spPr/>
        <p:txBody>
          <a:bodyPr/>
          <a:lstStyle/>
          <a:p>
            <a:fld id="{8F47D54E-10AF-4FCC-8D9A-816276BED3B1}" type="datetime1">
              <a:rPr lang="en-IN" smtClean="0"/>
              <a:t>08-04-2026</a:t>
            </a:fld>
            <a:endParaRPr lang="en-IN"/>
          </a:p>
        </p:txBody>
      </p:sp>
      <p:sp>
        <p:nvSpPr>
          <p:cNvPr id="8" name="Footer Placeholder 7">
            <a:extLst>
              <a:ext uri="{FF2B5EF4-FFF2-40B4-BE49-F238E27FC236}">
                <a16:creationId xmlns:a16="http://schemas.microsoft.com/office/drawing/2014/main" id="{48EBF732-595F-9030-CEFC-3B61470F6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D41571-0F40-81FB-98BC-647788A4461C}"/>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05935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E1A6-E146-1C33-86B4-E60877634E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D21DCE-26F7-F211-881B-2800D1160E89}"/>
              </a:ext>
            </a:extLst>
          </p:cNvPr>
          <p:cNvSpPr>
            <a:spLocks noGrp="1"/>
          </p:cNvSpPr>
          <p:nvPr>
            <p:ph type="dt" sz="half" idx="10"/>
          </p:nvPr>
        </p:nvSpPr>
        <p:spPr/>
        <p:txBody>
          <a:bodyPr/>
          <a:lstStyle/>
          <a:p>
            <a:fld id="{9DED8FF2-221B-4249-824B-2AC664878973}" type="datetime1">
              <a:rPr lang="en-IN" smtClean="0"/>
              <a:t>08-04-2026</a:t>
            </a:fld>
            <a:endParaRPr lang="en-IN"/>
          </a:p>
        </p:txBody>
      </p:sp>
      <p:sp>
        <p:nvSpPr>
          <p:cNvPr id="4" name="Footer Placeholder 3">
            <a:extLst>
              <a:ext uri="{FF2B5EF4-FFF2-40B4-BE49-F238E27FC236}">
                <a16:creationId xmlns:a16="http://schemas.microsoft.com/office/drawing/2014/main" id="{B4286BE9-45A0-ED16-1CDF-D709B45119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1991F7-F2EE-1A37-BA40-2B1E73E981A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6013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E61A5D81-6B2D-446E-9371-DAEF6201051F}" type="datetime1">
              <a:rPr lang="en-IN" smtClean="0"/>
              <a:t>08-04-2026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cxnSp>
        <p:nvCxnSpPr>
          <p:cNvPr id="5" name="Straight Connector 4">
            <a:extLst>
              <a:ext uri="{FF2B5EF4-FFF2-40B4-BE49-F238E27FC236}">
                <a16:creationId xmlns:a16="http://schemas.microsoft.com/office/drawing/2014/main" id="{453AE9E6-8BB3-590F-969E-BFE4E5B4A7B6}"/>
              </a:ext>
            </a:extLst>
          </p:cNvPr>
          <p:cNvCxnSpPr/>
          <p:nvPr userDrawn="1"/>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8A5819D-C956-7CCC-1613-C2CBB2D3BFF4}"/>
              </a:ext>
            </a:extLst>
          </p:cNvPr>
          <p:cNvGrpSpPr/>
          <p:nvPr userDrawn="1"/>
        </p:nvGrpSpPr>
        <p:grpSpPr>
          <a:xfrm flipV="1">
            <a:off x="859974" y="6308730"/>
            <a:ext cx="3135084" cy="71645"/>
            <a:chOff x="10472059" y="1023707"/>
            <a:chExt cx="881740" cy="49899"/>
          </a:xfrm>
        </p:grpSpPr>
        <p:grpSp>
          <p:nvGrpSpPr>
            <p:cNvPr id="7" name="Group 6">
              <a:extLst>
                <a:ext uri="{FF2B5EF4-FFF2-40B4-BE49-F238E27FC236}">
                  <a16:creationId xmlns:a16="http://schemas.microsoft.com/office/drawing/2014/main" id="{401B73AA-76A4-619B-3D0D-CB2C0D00421F}"/>
                </a:ext>
              </a:extLst>
            </p:cNvPr>
            <p:cNvGrpSpPr/>
            <p:nvPr/>
          </p:nvGrpSpPr>
          <p:grpSpPr>
            <a:xfrm>
              <a:off x="10918372" y="1024176"/>
              <a:ext cx="435427" cy="49430"/>
              <a:chOff x="10918372" y="1024176"/>
              <a:chExt cx="435427" cy="49430"/>
            </a:xfrm>
          </p:grpSpPr>
          <p:sp>
            <p:nvSpPr>
              <p:cNvPr id="11" name="Rectangle: Single Corner Snipped 10">
                <a:extLst>
                  <a:ext uri="{FF2B5EF4-FFF2-40B4-BE49-F238E27FC236}">
                    <a16:creationId xmlns:a16="http://schemas.microsoft.com/office/drawing/2014/main" id="{29A5F611-582F-40AA-A216-79AA678E8DDC}"/>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2" name="Rectangle: Single Corner Snipped 11">
                <a:extLst>
                  <a:ext uri="{FF2B5EF4-FFF2-40B4-BE49-F238E27FC236}">
                    <a16:creationId xmlns:a16="http://schemas.microsoft.com/office/drawing/2014/main" id="{11B4FAE1-B144-A770-C946-1DB71B6959FE}"/>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8" name="Group 7">
              <a:extLst>
                <a:ext uri="{FF2B5EF4-FFF2-40B4-BE49-F238E27FC236}">
                  <a16:creationId xmlns:a16="http://schemas.microsoft.com/office/drawing/2014/main" id="{830DDCB4-0B15-DD69-7D44-14A2262AD738}"/>
                </a:ext>
              </a:extLst>
            </p:cNvPr>
            <p:cNvGrpSpPr/>
            <p:nvPr/>
          </p:nvGrpSpPr>
          <p:grpSpPr>
            <a:xfrm>
              <a:off x="10472059" y="1023707"/>
              <a:ext cx="435427" cy="49430"/>
              <a:chOff x="10918372" y="1024176"/>
              <a:chExt cx="435427" cy="49430"/>
            </a:xfrm>
          </p:grpSpPr>
          <p:sp>
            <p:nvSpPr>
              <p:cNvPr id="9" name="Rectangle: Single Corner Snipped 8">
                <a:extLst>
                  <a:ext uri="{FF2B5EF4-FFF2-40B4-BE49-F238E27FC236}">
                    <a16:creationId xmlns:a16="http://schemas.microsoft.com/office/drawing/2014/main" id="{762D1B86-C0E3-DCAF-A1D2-AAC203E82B43}"/>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0" name="Rectangle: Single Corner Snipped 9">
                <a:extLst>
                  <a:ext uri="{FF2B5EF4-FFF2-40B4-BE49-F238E27FC236}">
                    <a16:creationId xmlns:a16="http://schemas.microsoft.com/office/drawing/2014/main" id="{A6F7DDE0-ACF4-041B-DD27-0B47FB88C342}"/>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13" name="Picture 12" descr="A red and blue text on a white background&#10;&#10;AI-generated content may be incorrect.">
            <a:extLst>
              <a:ext uri="{FF2B5EF4-FFF2-40B4-BE49-F238E27FC236}">
                <a16:creationId xmlns:a16="http://schemas.microsoft.com/office/drawing/2014/main" id="{3763422A-D1C4-A3F4-FF1A-4D4189938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99968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AAA2BEC3-1F55-401C-9D47-FA8AE70F9754}" type="datetime1">
              <a:rPr lang="en-IN" smtClean="0"/>
              <a:t>08-04-2026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pic>
        <p:nvPicPr>
          <p:cNvPr id="6" name="Picture 5" descr="A red and blue text on a white background&#10;&#10;AI-generated content may be incorrect.">
            <a:extLst>
              <a:ext uri="{FF2B5EF4-FFF2-40B4-BE49-F238E27FC236}">
                <a16:creationId xmlns:a16="http://schemas.microsoft.com/office/drawing/2014/main" id="{F1736AF1-3B7A-9744-918A-A637BF3577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245849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A895-1E78-27B2-E388-AE4403394C6E}"/>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9FF1B9-8FDA-07E4-2B8D-C5EB9A89CF24}"/>
              </a:ext>
            </a:extLst>
          </p:cNvPr>
          <p:cNvSpPr>
            <a:spLocks noGrp="1"/>
          </p:cNvSpPr>
          <p:nvPr>
            <p:ph idx="1"/>
          </p:nvPr>
        </p:nvSpPr>
        <p:spPr>
          <a:xfrm>
            <a:off x="5183190"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93B36D-F25E-5796-4F5D-822001BE16EC}"/>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B21311A0-0E68-B369-D2D2-11D84A2AFE4A}"/>
              </a:ext>
            </a:extLst>
          </p:cNvPr>
          <p:cNvSpPr>
            <a:spLocks noGrp="1"/>
          </p:cNvSpPr>
          <p:nvPr>
            <p:ph type="dt" sz="half" idx="10"/>
          </p:nvPr>
        </p:nvSpPr>
        <p:spPr/>
        <p:txBody>
          <a:bodyPr/>
          <a:lstStyle/>
          <a:p>
            <a:fld id="{5169F43A-DAC1-4FF9-812E-B4E6CA11715F}" type="datetime1">
              <a:rPr lang="en-IN" smtClean="0"/>
              <a:t>08-04-2026</a:t>
            </a:fld>
            <a:endParaRPr lang="en-IN"/>
          </a:p>
        </p:txBody>
      </p:sp>
      <p:sp>
        <p:nvSpPr>
          <p:cNvPr id="6" name="Footer Placeholder 5">
            <a:extLst>
              <a:ext uri="{FF2B5EF4-FFF2-40B4-BE49-F238E27FC236}">
                <a16:creationId xmlns:a16="http://schemas.microsoft.com/office/drawing/2014/main" id="{AAC46E4C-2A24-A937-A2FE-8E5CE43B9C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75EA4B-571A-D24E-36C6-A1AD99D01FB4}"/>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79558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8C179-20F5-150A-7338-F16B1A7E36EB}"/>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AFF73-2096-DF54-CB41-726A5A48F903}"/>
              </a:ext>
            </a:extLst>
          </p:cNvPr>
          <p:cNvSpPr>
            <a:spLocks noGrp="1"/>
          </p:cNvSpPr>
          <p:nvPr>
            <p:ph type="pic" idx="1"/>
          </p:nvPr>
        </p:nvSpPr>
        <p:spPr>
          <a:xfrm>
            <a:off x="5183190"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0A65307B-C722-07B7-39EB-E1850225F6B8}"/>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E1FC4ABA-EBEC-EAA8-0A15-6746334159CD}"/>
              </a:ext>
            </a:extLst>
          </p:cNvPr>
          <p:cNvSpPr>
            <a:spLocks noGrp="1"/>
          </p:cNvSpPr>
          <p:nvPr>
            <p:ph type="dt" sz="half" idx="10"/>
          </p:nvPr>
        </p:nvSpPr>
        <p:spPr/>
        <p:txBody>
          <a:bodyPr/>
          <a:lstStyle/>
          <a:p>
            <a:fld id="{08770538-0A31-4084-BBC4-3874EB35255F}" type="datetime1">
              <a:rPr lang="en-IN" smtClean="0"/>
              <a:t>08-04-2026</a:t>
            </a:fld>
            <a:endParaRPr lang="en-IN"/>
          </a:p>
        </p:txBody>
      </p:sp>
      <p:sp>
        <p:nvSpPr>
          <p:cNvPr id="6" name="Footer Placeholder 5">
            <a:extLst>
              <a:ext uri="{FF2B5EF4-FFF2-40B4-BE49-F238E27FC236}">
                <a16:creationId xmlns:a16="http://schemas.microsoft.com/office/drawing/2014/main" id="{39412C35-1B5F-2E70-4861-4DF15245D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516126-EED2-44F8-4182-18BE86CA2995}"/>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64938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E58F6-AD6F-FB5A-AED9-E081D3C7E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706B84-4B58-5AEF-4E62-A49CEA5F59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3EECB-FB86-4ECF-C56E-AFD5EA8B6D26}"/>
              </a:ext>
            </a:extLst>
          </p:cNvPr>
          <p:cNvSpPr>
            <a:spLocks noGrp="1"/>
          </p:cNvSpPr>
          <p:nvPr>
            <p:ph type="dt" sz="half" idx="10"/>
          </p:nvPr>
        </p:nvSpPr>
        <p:spPr/>
        <p:txBody>
          <a:bodyPr/>
          <a:lstStyle/>
          <a:p>
            <a:fld id="{56BDE620-75BA-42E3-B55F-A02EA3BAA900}" type="datetime1">
              <a:rPr lang="en-IN" smtClean="0"/>
              <a:t>08-04-2026</a:t>
            </a:fld>
            <a:endParaRPr lang="en-IN"/>
          </a:p>
        </p:txBody>
      </p:sp>
      <p:sp>
        <p:nvSpPr>
          <p:cNvPr id="5" name="Footer Placeholder 4">
            <a:extLst>
              <a:ext uri="{FF2B5EF4-FFF2-40B4-BE49-F238E27FC236}">
                <a16:creationId xmlns:a16="http://schemas.microsoft.com/office/drawing/2014/main" id="{3A1918B6-26BB-C0F4-B5D9-64E24B867E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3CDD1-5B88-7250-C93A-D2A0793866EB}"/>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35366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5793B-34E0-E0DB-C8AE-655A5DF0B8CB}"/>
              </a:ext>
            </a:extLst>
          </p:cNvPr>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8A8219-57FE-6B9D-B5DF-991F5603433C}"/>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BE125-D33F-5D2A-7F16-A261A909CC57}"/>
              </a:ext>
            </a:extLst>
          </p:cNvPr>
          <p:cNvSpPr>
            <a:spLocks noGrp="1"/>
          </p:cNvSpPr>
          <p:nvPr>
            <p:ph type="dt" sz="half" idx="10"/>
          </p:nvPr>
        </p:nvSpPr>
        <p:spPr/>
        <p:txBody>
          <a:bodyPr/>
          <a:lstStyle/>
          <a:p>
            <a:fld id="{77C213C4-D20C-49F0-976F-F2A6ABBEC592}" type="datetime1">
              <a:rPr lang="en-IN" smtClean="0"/>
              <a:t>08-04-2026</a:t>
            </a:fld>
            <a:endParaRPr lang="en-IN"/>
          </a:p>
        </p:txBody>
      </p:sp>
      <p:sp>
        <p:nvSpPr>
          <p:cNvPr id="5" name="Footer Placeholder 4">
            <a:extLst>
              <a:ext uri="{FF2B5EF4-FFF2-40B4-BE49-F238E27FC236}">
                <a16:creationId xmlns:a16="http://schemas.microsoft.com/office/drawing/2014/main" id="{B78C3A23-882F-4F63-65A1-4C52071592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3E8DC-0008-3CE6-3593-C97F845BB3E6}"/>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332014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12CEC21-FD8E-4D6C-A2FA-43FC25C629E3}"/>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IN"/>
          </a:p>
        </p:txBody>
      </p:sp>
    </p:spTree>
    <p:extLst>
      <p:ext uri="{BB962C8B-B14F-4D97-AF65-F5344CB8AC3E}">
        <p14:creationId xmlns:p14="http://schemas.microsoft.com/office/powerpoint/2010/main" val="47449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F7346-18E5-9E8E-E882-41038BA4C70A}"/>
              </a:ext>
            </a:extLst>
          </p:cNvPr>
          <p:cNvSpPr>
            <a:spLocks noGrp="1"/>
          </p:cNvSpPr>
          <p:nvPr>
            <p:ph type="title"/>
          </p:nvPr>
        </p:nvSpPr>
        <p:spPr>
          <a:xfrm>
            <a:off x="838204" y="365126"/>
            <a:ext cx="9296400" cy="698502"/>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5067BE33-2258-EA19-9D7F-91944CAD8DD1}"/>
              </a:ext>
            </a:extLst>
          </p:cNvPr>
          <p:cNvSpPr>
            <a:spLocks noGrp="1"/>
          </p:cNvSpPr>
          <p:nvPr>
            <p:ph type="body" idx="1"/>
          </p:nvPr>
        </p:nvSpPr>
        <p:spPr>
          <a:xfrm>
            <a:off x="838204" y="1214207"/>
            <a:ext cx="10515600" cy="49627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8FCC2131-9910-F5A5-B865-B913CED0EEB7}"/>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00A94-AA0F-4032-84AA-4728E7FB6F95}" type="datetime1">
              <a:rPr lang="en-IN" smtClean="0"/>
              <a:t>08-04-2026</a:t>
            </a:fld>
            <a:endParaRPr lang="en-IN"/>
          </a:p>
        </p:txBody>
      </p:sp>
      <p:sp>
        <p:nvSpPr>
          <p:cNvPr id="5" name="Footer Placeholder 4">
            <a:extLst>
              <a:ext uri="{FF2B5EF4-FFF2-40B4-BE49-F238E27FC236}">
                <a16:creationId xmlns:a16="http://schemas.microsoft.com/office/drawing/2014/main" id="{3284213A-0596-FEE6-4B82-362CB266DDDA}"/>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86CA75-1535-14BB-9F09-83E964119FB1}"/>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F67448-8E76-4088-8C0F-9DC880FFD75C}" type="slidenum">
              <a:rPr lang="en-IN" smtClean="0"/>
              <a:t>‹#›</a:t>
            </a:fld>
            <a:endParaRPr lang="en-IN" dirty="0"/>
          </a:p>
        </p:txBody>
      </p:sp>
      <p:cxnSp>
        <p:nvCxnSpPr>
          <p:cNvPr id="8" name="Straight Connector 7">
            <a:extLst>
              <a:ext uri="{FF2B5EF4-FFF2-40B4-BE49-F238E27FC236}">
                <a16:creationId xmlns:a16="http://schemas.microsoft.com/office/drawing/2014/main" id="{0A3E5E16-10A2-AAED-8F30-8B2D814E7516}"/>
              </a:ext>
            </a:extLst>
          </p:cNvPr>
          <p:cNvCxnSpPr>
            <a:cxnSpLocks/>
          </p:cNvCxnSpPr>
          <p:nvPr/>
        </p:nvCxnSpPr>
        <p:spPr>
          <a:xfrm>
            <a:off x="827314" y="1113749"/>
            <a:ext cx="10526485"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A2CBCA-A37E-A234-53B5-947D80977681}"/>
              </a:ext>
            </a:extLst>
          </p:cNvPr>
          <p:cNvCxnSpPr/>
          <p:nvPr/>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6ECDDA8-E81A-2BAC-F325-C39F27FF4528}"/>
              </a:ext>
            </a:extLst>
          </p:cNvPr>
          <p:cNvGrpSpPr/>
          <p:nvPr/>
        </p:nvGrpSpPr>
        <p:grpSpPr>
          <a:xfrm>
            <a:off x="10472062" y="1023709"/>
            <a:ext cx="881740" cy="49899"/>
            <a:chOff x="10472059" y="1023707"/>
            <a:chExt cx="881740" cy="49899"/>
          </a:xfrm>
        </p:grpSpPr>
        <p:grpSp>
          <p:nvGrpSpPr>
            <p:cNvPr id="9" name="Group 8">
              <a:extLst>
                <a:ext uri="{FF2B5EF4-FFF2-40B4-BE49-F238E27FC236}">
                  <a16:creationId xmlns:a16="http://schemas.microsoft.com/office/drawing/2014/main" id="{FF565A3C-E2AE-E175-23D7-2871C255FF66}"/>
                </a:ext>
              </a:extLst>
            </p:cNvPr>
            <p:cNvGrpSpPr/>
            <p:nvPr/>
          </p:nvGrpSpPr>
          <p:grpSpPr>
            <a:xfrm>
              <a:off x="10918372" y="1024176"/>
              <a:ext cx="435427" cy="49430"/>
              <a:chOff x="10918372" y="1024176"/>
              <a:chExt cx="435427" cy="49430"/>
            </a:xfrm>
          </p:grpSpPr>
          <p:sp>
            <p:nvSpPr>
              <p:cNvPr id="12" name="Rectangle: Single Corner Snipped 11">
                <a:extLst>
                  <a:ext uri="{FF2B5EF4-FFF2-40B4-BE49-F238E27FC236}">
                    <a16:creationId xmlns:a16="http://schemas.microsoft.com/office/drawing/2014/main" id="{9F83BBE8-7AF6-FEF7-1C8C-71E9B3DAE424}"/>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7" name="Rectangle: Single Corner Snipped 6">
                <a:extLst>
                  <a:ext uri="{FF2B5EF4-FFF2-40B4-BE49-F238E27FC236}">
                    <a16:creationId xmlns:a16="http://schemas.microsoft.com/office/drawing/2014/main" id="{DEBA32B2-4547-3EE1-474B-F2FA0779E3A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14" name="Group 13">
              <a:extLst>
                <a:ext uri="{FF2B5EF4-FFF2-40B4-BE49-F238E27FC236}">
                  <a16:creationId xmlns:a16="http://schemas.microsoft.com/office/drawing/2014/main" id="{6963D3AE-1E5F-C031-C260-271864E0AE76}"/>
                </a:ext>
              </a:extLst>
            </p:cNvPr>
            <p:cNvGrpSpPr/>
            <p:nvPr/>
          </p:nvGrpSpPr>
          <p:grpSpPr>
            <a:xfrm>
              <a:off x="10472059" y="1023707"/>
              <a:ext cx="435427" cy="49430"/>
              <a:chOff x="10918372" y="1024176"/>
              <a:chExt cx="435427" cy="49430"/>
            </a:xfrm>
          </p:grpSpPr>
          <p:sp>
            <p:nvSpPr>
              <p:cNvPr id="15" name="Rectangle: Single Corner Snipped 14">
                <a:extLst>
                  <a:ext uri="{FF2B5EF4-FFF2-40B4-BE49-F238E27FC236}">
                    <a16:creationId xmlns:a16="http://schemas.microsoft.com/office/drawing/2014/main" id="{9CD76FA1-6888-BC28-EECA-938FC3B8E4EB}"/>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6" name="Rectangle: Single Corner Snipped 15">
                <a:extLst>
                  <a:ext uri="{FF2B5EF4-FFF2-40B4-BE49-F238E27FC236}">
                    <a16:creationId xmlns:a16="http://schemas.microsoft.com/office/drawing/2014/main" id="{878C3A61-B110-FE03-21FB-1BE887A559D4}"/>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grpSp>
        <p:nvGrpSpPr>
          <p:cNvPr id="18" name="Group 17">
            <a:extLst>
              <a:ext uri="{FF2B5EF4-FFF2-40B4-BE49-F238E27FC236}">
                <a16:creationId xmlns:a16="http://schemas.microsoft.com/office/drawing/2014/main" id="{CF846BAF-4509-D234-2BA2-9A1FB99AE3BE}"/>
              </a:ext>
            </a:extLst>
          </p:cNvPr>
          <p:cNvGrpSpPr/>
          <p:nvPr/>
        </p:nvGrpSpPr>
        <p:grpSpPr>
          <a:xfrm flipV="1">
            <a:off x="859974" y="6308730"/>
            <a:ext cx="3135084" cy="71645"/>
            <a:chOff x="10472059" y="1023707"/>
            <a:chExt cx="881740" cy="49899"/>
          </a:xfrm>
        </p:grpSpPr>
        <p:grpSp>
          <p:nvGrpSpPr>
            <p:cNvPr id="19" name="Group 18">
              <a:extLst>
                <a:ext uri="{FF2B5EF4-FFF2-40B4-BE49-F238E27FC236}">
                  <a16:creationId xmlns:a16="http://schemas.microsoft.com/office/drawing/2014/main" id="{3479F2F6-6398-4D1B-FBF0-2B42C46F2B21}"/>
                </a:ext>
              </a:extLst>
            </p:cNvPr>
            <p:cNvGrpSpPr/>
            <p:nvPr/>
          </p:nvGrpSpPr>
          <p:grpSpPr>
            <a:xfrm>
              <a:off x="10918372" y="1024176"/>
              <a:ext cx="435427" cy="49430"/>
              <a:chOff x="10918372" y="1024176"/>
              <a:chExt cx="435427" cy="49430"/>
            </a:xfrm>
          </p:grpSpPr>
          <p:sp>
            <p:nvSpPr>
              <p:cNvPr id="23" name="Rectangle: Single Corner Snipped 22">
                <a:extLst>
                  <a:ext uri="{FF2B5EF4-FFF2-40B4-BE49-F238E27FC236}">
                    <a16:creationId xmlns:a16="http://schemas.microsoft.com/office/drawing/2014/main" id="{DFA47EF9-A9B4-1744-8CEA-7D62BD1BA0DD}"/>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24" name="Rectangle: Single Corner Snipped 23">
                <a:extLst>
                  <a:ext uri="{FF2B5EF4-FFF2-40B4-BE49-F238E27FC236}">
                    <a16:creationId xmlns:a16="http://schemas.microsoft.com/office/drawing/2014/main" id="{91C1E7F3-8691-C2A0-F68D-7548E903F44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20" name="Group 19">
              <a:extLst>
                <a:ext uri="{FF2B5EF4-FFF2-40B4-BE49-F238E27FC236}">
                  <a16:creationId xmlns:a16="http://schemas.microsoft.com/office/drawing/2014/main" id="{D8C1B72C-EC65-9A9F-4657-CE299F2E706F}"/>
                </a:ext>
              </a:extLst>
            </p:cNvPr>
            <p:cNvGrpSpPr/>
            <p:nvPr/>
          </p:nvGrpSpPr>
          <p:grpSpPr>
            <a:xfrm>
              <a:off x="10472059" y="1023707"/>
              <a:ext cx="435427" cy="49430"/>
              <a:chOff x="10918372" y="1024176"/>
              <a:chExt cx="435427" cy="49430"/>
            </a:xfrm>
          </p:grpSpPr>
          <p:sp>
            <p:nvSpPr>
              <p:cNvPr id="21" name="Rectangle: Single Corner Snipped 20">
                <a:extLst>
                  <a:ext uri="{FF2B5EF4-FFF2-40B4-BE49-F238E27FC236}">
                    <a16:creationId xmlns:a16="http://schemas.microsoft.com/office/drawing/2014/main" id="{A89642AA-842A-1429-285F-2B6D229B2DD5}"/>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22" name="Rectangle: Single Corner Snipped 21">
                <a:extLst>
                  <a:ext uri="{FF2B5EF4-FFF2-40B4-BE49-F238E27FC236}">
                    <a16:creationId xmlns:a16="http://schemas.microsoft.com/office/drawing/2014/main" id="{8A182473-5DCE-FA8E-AFFD-81648C5D2371}"/>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28" name="Picture 27" descr="A red and blue text on a white background&#10;&#10;AI-generated content may be incorrect.">
            <a:extLst>
              <a:ext uri="{FF2B5EF4-FFF2-40B4-BE49-F238E27FC236}">
                <a16:creationId xmlns:a16="http://schemas.microsoft.com/office/drawing/2014/main" id="{352C47E1-893F-ADB1-A23E-6CF5CCFC858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
        <p:nvSpPr>
          <p:cNvPr id="11" name="TextBox 10">
            <a:extLst>
              <a:ext uri="{FF2B5EF4-FFF2-40B4-BE49-F238E27FC236}">
                <a16:creationId xmlns:a16="http://schemas.microsoft.com/office/drawing/2014/main" id="{26150659-E2D5-F9A1-66D2-2E43FC0560D2}"/>
              </a:ext>
            </a:extLst>
          </p:cNvPr>
          <p:cNvSpPr txBox="1"/>
          <p:nvPr userDrawn="1"/>
        </p:nvSpPr>
        <p:spPr>
          <a:xfrm>
            <a:off x="854932" y="6317861"/>
            <a:ext cx="10493828" cy="369332"/>
          </a:xfrm>
          <a:prstGeom prst="rect">
            <a:avLst/>
          </a:prstGeom>
          <a:solidFill>
            <a:srgbClr val="CCECFF"/>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effectLst/>
                <a:latin typeface="Times New Roman" panose="02020603050405020304" pitchFamily="18" charset="0"/>
                <a:cs typeface="Times New Roman" panose="02020603050405020304" pitchFamily="18" charset="0"/>
              </a:rPr>
              <a:t>Department of Advanced Computer Science and Engineering</a:t>
            </a:r>
          </a:p>
        </p:txBody>
      </p:sp>
    </p:spTree>
    <p:extLst>
      <p:ext uri="{BB962C8B-B14F-4D97-AF65-F5344CB8AC3E}">
        <p14:creationId xmlns:p14="http://schemas.microsoft.com/office/powerpoint/2010/main" val="98919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11"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78425" y="4778188"/>
            <a:ext cx="7718611" cy="457200"/>
          </a:xfrm>
        </p:spPr>
        <p:txBody>
          <a:bodyPr>
            <a:noAutofit/>
          </a:bodyPr>
          <a:lstStyle/>
          <a:p>
            <a:r>
              <a:rPr lang="en-US" sz="2000" b="1" i="1" dirty="0"/>
              <a:t>Conference Proceedings April 9th &amp; 10th, 2026</a:t>
            </a:r>
          </a:p>
        </p:txBody>
      </p:sp>
      <p:sp>
        <p:nvSpPr>
          <p:cNvPr id="8" name="TextBox 7">
            <a:extLst>
              <a:ext uri="{FF2B5EF4-FFF2-40B4-BE49-F238E27FC236}">
                <a16:creationId xmlns:a16="http://schemas.microsoft.com/office/drawing/2014/main" id="{88896AFD-939D-6991-F72C-EDA08D7E763C}"/>
              </a:ext>
            </a:extLst>
          </p:cNvPr>
          <p:cNvSpPr txBox="1"/>
          <p:nvPr/>
        </p:nvSpPr>
        <p:spPr>
          <a:xfrm>
            <a:off x="3913632" y="3247382"/>
            <a:ext cx="4779264" cy="369332"/>
          </a:xfrm>
          <a:prstGeom prst="rect">
            <a:avLst/>
          </a:prstGeom>
          <a:noFill/>
        </p:spPr>
        <p:txBody>
          <a:bodyPr wrap="square">
            <a:spAutoFit/>
          </a:bodyPr>
          <a:lstStyle/>
          <a:p>
            <a:endParaRPr lang="en-IN" dirty="0"/>
          </a:p>
        </p:txBody>
      </p:sp>
      <p:sp>
        <p:nvSpPr>
          <p:cNvPr id="16" name="Title 15">
            <a:extLst>
              <a:ext uri="{FF2B5EF4-FFF2-40B4-BE49-F238E27FC236}">
                <a16:creationId xmlns:a16="http://schemas.microsoft.com/office/drawing/2014/main" id="{F12C3DB8-0034-66A5-EC26-E871F0692033}"/>
              </a:ext>
            </a:extLst>
          </p:cNvPr>
          <p:cNvSpPr>
            <a:spLocks noGrp="1"/>
          </p:cNvSpPr>
          <p:nvPr>
            <p:ph type="ctrTitle"/>
          </p:nvPr>
        </p:nvSpPr>
        <p:spPr>
          <a:xfrm>
            <a:off x="2298640" y="2346033"/>
            <a:ext cx="8007096" cy="1470025"/>
          </a:xfrm>
        </p:spPr>
        <p:txBody>
          <a:bodyPr>
            <a:noAutofit/>
          </a:bodyPr>
          <a:lstStyle/>
          <a:p>
            <a:r>
              <a:rPr lang="en-US" sz="2000" b="1" dirty="0"/>
              <a:t>THE SECOND INTERNATIONAL CONFERENCE ON</a:t>
            </a:r>
            <a:br>
              <a:rPr lang="en-US" sz="2000" b="1" dirty="0"/>
            </a:br>
            <a:r>
              <a:rPr lang="en-US" sz="2000" b="1" dirty="0"/>
              <a:t>RESEARCH AND DEVELOPMENT IN INFORMATION, COMMUNICATION AND COMPUTING TECHNOLOGIES</a:t>
            </a:r>
            <a:br>
              <a:rPr lang="en-US" sz="2000" b="1" dirty="0"/>
            </a:br>
            <a:r>
              <a:rPr lang="en-US" sz="2000" b="1" dirty="0"/>
              <a:t>(ICRDICCT-2026)</a:t>
            </a:r>
            <a:endParaRPr lang="en-IN" sz="2000" dirty="0"/>
          </a:p>
        </p:txBody>
      </p:sp>
      <p:pic>
        <p:nvPicPr>
          <p:cNvPr id="1026" name="Picture 2" descr="Index Conference Proceedings in Scopus ...">
            <a:extLst>
              <a:ext uri="{FF2B5EF4-FFF2-40B4-BE49-F238E27FC236}">
                <a16:creationId xmlns:a16="http://schemas.microsoft.com/office/drawing/2014/main" id="{120A2211-945A-2E4F-E20C-7E6CB9497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5427" y="952688"/>
            <a:ext cx="2367915" cy="8099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TL TECHNOLOGY">
            <a:extLst>
              <a:ext uri="{FF2B5EF4-FFF2-40B4-BE49-F238E27FC236}">
                <a16:creationId xmlns:a16="http://schemas.microsoft.com/office/drawing/2014/main" id="{3D50E262-C6F3-9A46-FC2C-EA904721A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6069" y="725013"/>
            <a:ext cx="1194559" cy="11945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334043A-90B4-3BB0-E487-487C5FD6DE01}"/>
              </a:ext>
            </a:extLst>
          </p:cNvPr>
          <p:cNvPicPr>
            <a:picLocks noChangeAspect="1"/>
          </p:cNvPicPr>
          <p:nvPr/>
        </p:nvPicPr>
        <p:blipFill>
          <a:blip r:embed="rId4"/>
          <a:stretch>
            <a:fillRect/>
          </a:stretch>
        </p:blipFill>
        <p:spPr>
          <a:xfrm>
            <a:off x="2768659" y="656302"/>
            <a:ext cx="1554346" cy="1205242"/>
          </a:xfrm>
          <a:prstGeom prst="rect">
            <a:avLst/>
          </a:prstGeom>
        </p:spPr>
      </p:pic>
      <p:pic>
        <p:nvPicPr>
          <p:cNvPr id="10" name="Picture 2" descr="Himachal Pradesh University Shimla – Courses, Admissions, Rankings and  Notable Alumni – AUBSP">
            <a:extLst>
              <a:ext uri="{FF2B5EF4-FFF2-40B4-BE49-F238E27FC236}">
                <a16:creationId xmlns:a16="http://schemas.microsoft.com/office/drawing/2014/main" id="{DCB8279F-42D7-C4B0-50E3-92244D1FE2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768" t="13552" r="29525" b="13337"/>
          <a:stretch/>
        </p:blipFill>
        <p:spPr bwMode="auto">
          <a:xfrm>
            <a:off x="4392707" y="681315"/>
            <a:ext cx="1331259" cy="12819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05B53D-3CB8-821F-D7BD-E6A6843C1ED8}"/>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Paper Presentation Details</a:t>
            </a:r>
          </a:p>
        </p:txBody>
      </p:sp>
      <p:sp>
        <p:nvSpPr>
          <p:cNvPr id="3" name="Content Placeholder 2"/>
          <p:cNvSpPr>
            <a:spLocks noGrp="1"/>
          </p:cNvSpPr>
          <p:nvPr>
            <p:ph idx="1"/>
          </p:nvPr>
        </p:nvSpPr>
        <p:spPr>
          <a:xfrm>
            <a:off x="1077686" y="1208315"/>
            <a:ext cx="9622974" cy="4898572"/>
          </a:xfrm>
        </p:spPr>
        <p:txBody>
          <a:bodyPr>
            <a:normAutofit/>
          </a:bodyPr>
          <a:lstStyle/>
          <a:p>
            <a:pPr marL="0" indent="0" algn="ctr">
              <a:buNone/>
            </a:pPr>
            <a:r>
              <a:rPr dirty="0">
                <a:latin typeface="Times New Roman" panose="02020603050405020304" pitchFamily="18" charset="0"/>
                <a:cs typeface="Times New Roman" panose="02020603050405020304" pitchFamily="18" charset="0"/>
              </a:rPr>
              <a:t>Paper Title:</a:t>
            </a:r>
            <a:r>
              <a:rPr 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AI-Driven Real-Time Crowd Management System for Public Safety</a:t>
            </a:r>
            <a:endParaRPr lang="en-IN" b="1" dirty="0">
              <a:latin typeface="Times New Roman" panose="02020603050405020304" pitchFamily="18" charset="0"/>
              <a:cs typeface="Times New Roman" panose="02020603050405020304" pitchFamily="18" charset="0"/>
            </a:endParaRPr>
          </a:p>
          <a:p>
            <a:pPr marL="0" indent="0" algn="ctr">
              <a:buNone/>
            </a:pPr>
            <a:endParaRPr dirty="0">
              <a:latin typeface="Times New Roman" panose="02020603050405020304" pitchFamily="18" charset="0"/>
              <a:cs typeface="Times New Roman" panose="02020603050405020304" pitchFamily="18" charset="0"/>
            </a:endParaRPr>
          </a:p>
          <a:p>
            <a:pPr marL="0" indent="0" algn="ctr">
              <a:buNone/>
            </a:pPr>
            <a:r>
              <a:rPr dirty="0">
                <a:latin typeface="Times New Roman" panose="02020603050405020304" pitchFamily="18" charset="0"/>
                <a:cs typeface="Times New Roman" panose="02020603050405020304" pitchFamily="18" charset="0"/>
              </a:rPr>
              <a:t>Paper ID: </a:t>
            </a:r>
            <a:r>
              <a:rPr lang="en-US" dirty="0"/>
              <a:t>ICRDICCT – 122</a:t>
            </a:r>
          </a:p>
          <a:p>
            <a:pPr marL="0" indent="0" algn="ctr">
              <a:buNone/>
            </a:pPr>
            <a:endParaRPr lang="en-GB"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Author(s): </a:t>
            </a:r>
          </a:p>
          <a:p>
            <a:pPr marL="3543300" lvl="8" indent="0" fontAlgn="t">
              <a:buNone/>
            </a:pPr>
            <a:r>
              <a:rPr lang="en-IN" sz="2400" dirty="0"/>
              <a:t>D. Yaswanth Guptha </a:t>
            </a:r>
            <a:endParaRPr lang="en-US" sz="2400" dirty="0"/>
          </a:p>
          <a:p>
            <a:pPr marL="3543300" lvl="8" indent="0" fontAlgn="t">
              <a:buNone/>
            </a:pPr>
            <a:r>
              <a:rPr lang="en-IN" sz="2400" dirty="0"/>
              <a:t>D. Sukesh Babu</a:t>
            </a:r>
            <a:endParaRPr lang="en-US" sz="2400" dirty="0"/>
          </a:p>
          <a:p>
            <a:pPr marL="3543300" lvl="8" indent="0" fontAlgn="t">
              <a:buNone/>
            </a:pPr>
            <a:r>
              <a:rPr lang="en-IN" sz="2400" dirty="0"/>
              <a:t>G. Lokesh</a:t>
            </a:r>
            <a:endParaRPr lang="en-US" sz="2400" dirty="0"/>
          </a:p>
          <a:p>
            <a:pPr marL="3543300" lvl="8" indent="0" fontAlgn="t">
              <a:buNone/>
            </a:pPr>
            <a:r>
              <a:rPr lang="en-IN" sz="2400" dirty="0"/>
              <a:t>G. Venkata Reddy</a:t>
            </a:r>
          </a:p>
          <a:p>
            <a:pPr marL="3543300" lvl="8" indent="0" fontAlgn="t">
              <a:buNone/>
            </a:pPr>
            <a:r>
              <a:rPr lang="en-IN" sz="2400" dirty="0"/>
              <a:t>Dr. </a:t>
            </a:r>
            <a:r>
              <a:rPr lang="en-IN" sz="2400" dirty="0" err="1"/>
              <a:t>Chennapradaga</a:t>
            </a:r>
            <a:r>
              <a:rPr lang="en-IN" sz="2400" dirty="0"/>
              <a:t> Amarendra</a:t>
            </a:r>
          </a:p>
          <a:p>
            <a:pPr marL="0" indent="0" fontAlgn="t">
              <a:buNone/>
            </a:pPr>
            <a:endParaRPr lang="en-US" dirty="0"/>
          </a:p>
          <a:p>
            <a:pPr marL="0" indent="0" fontAlgn="t">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C62093-5518-F4C9-835F-A7C69331096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Table of Contents</a:t>
            </a:r>
          </a:p>
        </p:txBody>
      </p:sp>
      <p:sp>
        <p:nvSpPr>
          <p:cNvPr id="3" name="Content Placeholder 2"/>
          <p:cNvSpPr>
            <a:spLocks noGrp="1"/>
          </p:cNvSpPr>
          <p:nvPr>
            <p:ph idx="1"/>
          </p:nvPr>
        </p:nvSpPr>
        <p:spPr/>
        <p:txBody>
          <a:bodyPr>
            <a:normAutofit/>
          </a:bodyPr>
          <a:lstStyle/>
          <a:p>
            <a:pPr marL="0" indent="0">
              <a:buNone/>
            </a:pPr>
            <a:r>
              <a:rPr dirty="0">
                <a:latin typeface="Times New Roman" panose="02020603050405020304" pitchFamily="18" charset="0"/>
                <a:cs typeface="Times New Roman" panose="02020603050405020304" pitchFamily="18" charset="0"/>
              </a:rPr>
              <a:t>1. Abstract</a:t>
            </a:r>
          </a:p>
          <a:p>
            <a:pPr marL="0" indent="0">
              <a:buNone/>
            </a:pPr>
            <a:r>
              <a:rPr dirty="0">
                <a:latin typeface="Times New Roman" panose="02020603050405020304" pitchFamily="18" charset="0"/>
                <a:cs typeface="Times New Roman" panose="02020603050405020304" pitchFamily="18" charset="0"/>
              </a:rPr>
              <a:t>2. Introduction</a:t>
            </a:r>
          </a:p>
          <a:p>
            <a:pPr marL="0" indent="0">
              <a:buNone/>
            </a:pPr>
            <a:r>
              <a:rPr dirty="0">
                <a:latin typeface="Times New Roman" panose="02020603050405020304" pitchFamily="18" charset="0"/>
                <a:cs typeface="Times New Roman" panose="02020603050405020304" pitchFamily="18" charset="0"/>
              </a:rPr>
              <a:t>3. Related Work</a:t>
            </a:r>
          </a:p>
          <a:p>
            <a:pPr marL="0" indent="0">
              <a:buNone/>
            </a:pPr>
            <a:r>
              <a:rPr dirty="0">
                <a:latin typeface="Times New Roman" panose="02020603050405020304" pitchFamily="18" charset="0"/>
                <a:cs typeface="Times New Roman" panose="02020603050405020304" pitchFamily="18" charset="0"/>
              </a:rPr>
              <a:t>4. Proposed System / Methodology</a:t>
            </a:r>
          </a:p>
          <a:p>
            <a:pPr marL="0" indent="0">
              <a:buNone/>
            </a:pPr>
            <a:r>
              <a:rPr dirty="0">
                <a:latin typeface="Times New Roman" panose="02020603050405020304" pitchFamily="18" charset="0"/>
                <a:cs typeface="Times New Roman" panose="02020603050405020304" pitchFamily="18" charset="0"/>
              </a:rPr>
              <a:t>5. Experimental Setup / Results</a:t>
            </a:r>
          </a:p>
          <a:p>
            <a:pPr marL="0" indent="0">
              <a:buNone/>
            </a:pPr>
            <a:r>
              <a:rPr dirty="0">
                <a:latin typeface="Times New Roman" panose="02020603050405020304" pitchFamily="18" charset="0"/>
                <a:cs typeface="Times New Roman" panose="02020603050405020304" pitchFamily="18" charset="0"/>
              </a:rPr>
              <a:t>6. Analysis</a:t>
            </a:r>
          </a:p>
          <a:p>
            <a:pPr marL="0" indent="0">
              <a:buNone/>
            </a:pPr>
            <a:r>
              <a:rPr dirty="0">
                <a:latin typeface="Times New Roman" panose="02020603050405020304" pitchFamily="18" charset="0"/>
                <a:cs typeface="Times New Roman" panose="02020603050405020304" pitchFamily="18" charset="0"/>
              </a:rPr>
              <a:t>7. Conclusion</a:t>
            </a:r>
          </a:p>
          <a:p>
            <a:pPr marL="0" indent="0">
              <a:buNone/>
            </a:pPr>
            <a:r>
              <a:rPr dirty="0">
                <a:latin typeface="Times New Roman" panose="02020603050405020304" pitchFamily="18" charset="0"/>
                <a:cs typeface="Times New Roman" panose="02020603050405020304" pitchFamily="18" charset="0"/>
              </a:rPr>
              <a:t>8. 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9493-BC27-4478-2AB2-7ECD1FDEFF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F91FC5-29CE-7C81-DE6C-9D124C4150A6}"/>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0988095-4C99-9D7C-CBFC-D1FFBB850B93}"/>
              </a:ext>
            </a:extLst>
          </p:cNvPr>
          <p:cNvSpPr>
            <a:spLocks noGrp="1"/>
          </p:cNvSpPr>
          <p:nvPr>
            <p:ph type="title"/>
          </p:nvPr>
        </p:nvSpPr>
        <p:spPr>
          <a:xfrm>
            <a:off x="821875" y="365126"/>
            <a:ext cx="9296400" cy="698502"/>
          </a:xfrm>
        </p:spPr>
        <p:txBody>
          <a:bodyPr/>
          <a:lstStyle/>
          <a:p>
            <a:r>
              <a:rPr lang="en-US" b="1" dirty="0"/>
              <a:t>1. Abstract</a:t>
            </a:r>
          </a:p>
        </p:txBody>
      </p:sp>
      <p:sp>
        <p:nvSpPr>
          <p:cNvPr id="3" name="Content Placeholder 2">
            <a:extLst>
              <a:ext uri="{FF2B5EF4-FFF2-40B4-BE49-F238E27FC236}">
                <a16:creationId xmlns:a16="http://schemas.microsoft.com/office/drawing/2014/main" id="{7B9B9103-CDFA-E1A6-AD7A-9DD856862B3E}"/>
              </a:ext>
            </a:extLst>
          </p:cNvPr>
          <p:cNvSpPr>
            <a:spLocks noGrp="1"/>
          </p:cNvSpPr>
          <p:nvPr>
            <p:ph idx="1"/>
          </p:nvPr>
        </p:nvSpPr>
        <p:spPr/>
        <p:txBody>
          <a:bodyPr>
            <a:normAutofit fontScale="92500" lnSpcReduction="20000"/>
          </a:bodyPr>
          <a:lstStyle/>
          <a:p>
            <a:pPr marL="0" indent="0" algn="just">
              <a:buNone/>
            </a:pPr>
            <a:r>
              <a:rPr lang="en-US" dirty="0"/>
              <a:t>The design, implementation, and evaluation of an AI-driven real-time crowd management sys </a:t>
            </a:r>
            <a:r>
              <a:rPr lang="en-US" dirty="0" err="1"/>
              <a:t>tem</a:t>
            </a:r>
            <a:r>
              <a:rPr lang="en-US" dirty="0"/>
              <a:t> for public safety. The system combines computer vision (YOLOv8) for automatic people detection and counting across multiple monitored zones, a </a:t>
            </a:r>
            <a:r>
              <a:rPr lang="en-US" dirty="0" err="1"/>
              <a:t>FastAPI</a:t>
            </a:r>
            <a:r>
              <a:rPr lang="en-US" dirty="0"/>
              <a:t>-based backend with Web Socket support for live updates, and a multi-channel notification subsystem (SMS and email) for alerting when capacity thresholds are exceeded. The architecture integrates video streaming, </a:t>
            </a:r>
            <a:r>
              <a:rPr lang="en-US" dirty="0" err="1"/>
              <a:t>asyn</a:t>
            </a:r>
            <a:r>
              <a:rPr lang="en-US" dirty="0"/>
              <a:t> </a:t>
            </a:r>
            <a:r>
              <a:rPr lang="en-US" dirty="0" err="1"/>
              <a:t>chronous</a:t>
            </a:r>
            <a:r>
              <a:rPr lang="en-US" dirty="0"/>
              <a:t> monitoring, SQLite persistence, and a responsive web dashboard to support security teams and event </a:t>
            </a:r>
            <a:r>
              <a:rPr lang="en-US" dirty="0" err="1"/>
              <a:t>organisers</a:t>
            </a:r>
            <a:r>
              <a:rPr lang="en-US" dirty="0"/>
              <a:t>. We document system architecture (with linked diagrams), method ology, experimental results including sample detection output, and conclusions. The system fulfils functional requirements for multi-zone monitoring, density classification (green/yellow/red), real-time dashboard updates, configurable alerts, and emergency override, providing a deployable reference for crowd analytics and public safety monitoring. Keywords: crowd management, computer vision, YOLOv8, real time monitoring, public safety, object detection, alert system, </a:t>
            </a:r>
            <a:r>
              <a:rPr lang="en-US" dirty="0" err="1"/>
              <a:t>FastAPI</a:t>
            </a:r>
            <a:r>
              <a:rPr lang="en-US" dirty="0"/>
              <a:t>, WebSocket, multi-zone monitoring, density </a:t>
            </a:r>
            <a:r>
              <a:rPr lang="en-US" dirty="0" err="1"/>
              <a:t>classifica</a:t>
            </a:r>
            <a:r>
              <a:rPr lang="en-US" dirty="0"/>
              <a:t> </a:t>
            </a:r>
            <a:r>
              <a:rPr lang="en-US" dirty="0" err="1"/>
              <a:t>tion</a:t>
            </a:r>
            <a:r>
              <a:rPr lang="en-US" dirty="0"/>
              <a:t>, Twilio, SMTP.</a:t>
            </a:r>
            <a:endParaRPr lang="en-IN" dirty="0">
              <a:effectLst/>
            </a:endParaRPr>
          </a:p>
        </p:txBody>
      </p:sp>
      <p:sp>
        <p:nvSpPr>
          <p:cNvPr id="4" name="Slide Number Placeholder 3">
            <a:extLst>
              <a:ext uri="{FF2B5EF4-FFF2-40B4-BE49-F238E27FC236}">
                <a16:creationId xmlns:a16="http://schemas.microsoft.com/office/drawing/2014/main" id="{A1A93924-8B60-81DC-05AB-7D5A0781B787}"/>
              </a:ext>
            </a:extLst>
          </p:cNvPr>
          <p:cNvSpPr>
            <a:spLocks noGrp="1"/>
          </p:cNvSpPr>
          <p:nvPr>
            <p:ph type="sldNum" sz="quarter" idx="12"/>
          </p:nvPr>
        </p:nvSpPr>
        <p:spPr/>
        <p:txBody>
          <a:bodyPr/>
          <a:lstStyle/>
          <a:p>
            <a:fld id="{03F67448-8E76-4088-8C0F-9DC880FFD75C}" type="slidenum">
              <a:rPr lang="en-IN" smtClean="0"/>
              <a:t>4</a:t>
            </a:fld>
            <a:endParaRPr lang="en-IN"/>
          </a:p>
        </p:txBody>
      </p:sp>
    </p:spTree>
    <p:extLst>
      <p:ext uri="{BB962C8B-B14F-4D97-AF65-F5344CB8AC3E}">
        <p14:creationId xmlns:p14="http://schemas.microsoft.com/office/powerpoint/2010/main" val="34351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1434D8-925E-B3B0-A641-D7696C69BA21}"/>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BF14081-4DD1-9A22-F327-5B7C9999A700}"/>
              </a:ext>
            </a:extLst>
          </p:cNvPr>
          <p:cNvSpPr>
            <a:spLocks noGrp="1"/>
          </p:cNvSpPr>
          <p:nvPr>
            <p:ph type="title"/>
          </p:nvPr>
        </p:nvSpPr>
        <p:spPr/>
        <p:txBody>
          <a:bodyPr/>
          <a:lstStyle/>
          <a:p>
            <a:r>
              <a:rPr lang="en-US" b="1" dirty="0"/>
              <a:t>2. Introduction</a:t>
            </a:r>
            <a:endParaRPr lang="en-IN" b="1" dirty="0"/>
          </a:p>
        </p:txBody>
      </p:sp>
      <p:sp>
        <p:nvSpPr>
          <p:cNvPr id="3" name="Slide Number Placeholder 2">
            <a:extLst>
              <a:ext uri="{FF2B5EF4-FFF2-40B4-BE49-F238E27FC236}">
                <a16:creationId xmlns:a16="http://schemas.microsoft.com/office/drawing/2014/main" id="{B26ED67D-A633-2E42-D046-92F7D0E145B5}"/>
              </a:ext>
            </a:extLst>
          </p:cNvPr>
          <p:cNvSpPr>
            <a:spLocks noGrp="1"/>
          </p:cNvSpPr>
          <p:nvPr>
            <p:ph type="sldNum" sz="quarter" idx="12"/>
          </p:nvPr>
        </p:nvSpPr>
        <p:spPr/>
        <p:txBody>
          <a:bodyPr/>
          <a:lstStyle/>
          <a:p>
            <a:fld id="{03F67448-8E76-4088-8C0F-9DC880FFD75C}" type="slidenum">
              <a:rPr lang="en-IN" smtClean="0"/>
              <a:t>5</a:t>
            </a:fld>
            <a:endParaRPr lang="en-IN"/>
          </a:p>
        </p:txBody>
      </p:sp>
      <p:sp>
        <p:nvSpPr>
          <p:cNvPr id="6" name="Content Placeholder 5">
            <a:extLst>
              <a:ext uri="{FF2B5EF4-FFF2-40B4-BE49-F238E27FC236}">
                <a16:creationId xmlns:a16="http://schemas.microsoft.com/office/drawing/2014/main" id="{7706A2DB-B525-F8BC-8958-D9C4CAC16155}"/>
              </a:ext>
            </a:extLst>
          </p:cNvPr>
          <p:cNvSpPr>
            <a:spLocks noGrp="1"/>
          </p:cNvSpPr>
          <p:nvPr>
            <p:ph idx="1"/>
          </p:nvPr>
        </p:nvSpPr>
        <p:spPr>
          <a:xfrm>
            <a:off x="838204" y="1214207"/>
            <a:ext cx="10515600" cy="4962756"/>
          </a:xfrm>
        </p:spPr>
        <p:txBody>
          <a:bodyPr>
            <a:normAutofit fontScale="55000" lnSpcReduction="20000"/>
          </a:bodyPr>
          <a:lstStyle/>
          <a:p>
            <a:pPr marL="0" indent="0">
              <a:buNone/>
            </a:pPr>
            <a:r>
              <a:rPr lang="en-IN" b="1" dirty="0"/>
              <a:t>Background of the Domain</a:t>
            </a:r>
          </a:p>
          <a:p>
            <a:r>
              <a:rPr lang="en-IN" dirty="0"/>
              <a:t>Rapid urbanization, large public gatherings, and high-footfall events have increased the need for intelligent crowd monitoring systems. Traditional manual surveillance is inefficient, error-prone, and unable to respond in real time.</a:t>
            </a:r>
          </a:p>
          <a:p>
            <a:pPr marL="0" indent="0">
              <a:buNone/>
            </a:pPr>
            <a:r>
              <a:rPr lang="en-IN" b="1" dirty="0"/>
              <a:t>Real-World Problem</a:t>
            </a:r>
          </a:p>
          <a:p>
            <a:r>
              <a:rPr lang="en-IN" dirty="0"/>
              <a:t>Overcrowding in public places such as malls, event halls, transport hubs, and parking areas can lead to safety hazards, stampedes, delayed emergency response, and poor crowd control due to the lack of real-time visibility and automated alerts.</a:t>
            </a:r>
          </a:p>
          <a:p>
            <a:pPr marL="0" indent="0">
              <a:buNone/>
            </a:pPr>
            <a:r>
              <a:rPr lang="en-IN" b="1" dirty="0"/>
              <a:t>Importance in the Current Scenario</a:t>
            </a:r>
          </a:p>
          <a:p>
            <a:r>
              <a:rPr lang="en-IN" dirty="0"/>
              <a:t>With growing concerns around public safety, disaster management, and smart city initiatives, there is a critical demand for AI-driven systems that can continuously monitor crowd density, detect abnormal situations, and assist authorities in taking timely preventive actions.</a:t>
            </a:r>
          </a:p>
          <a:p>
            <a:pPr marL="0" indent="0">
              <a:buNone/>
            </a:pPr>
            <a:r>
              <a:rPr lang="en-IN" b="1" dirty="0"/>
              <a:t>Proposed Solution (Overview)</a:t>
            </a:r>
          </a:p>
          <a:p>
            <a:r>
              <a:rPr lang="en-IN" dirty="0"/>
              <a:t>This project presents an </a:t>
            </a:r>
            <a:r>
              <a:rPr lang="en-IN" b="1" dirty="0"/>
              <a:t>AI-Driven Real-Time Crowd Management System</a:t>
            </a:r>
            <a:r>
              <a:rPr lang="en-IN" dirty="0"/>
              <a:t> that uses computer vision and deep learning to detect and count people across multiple zones, </a:t>
            </a:r>
            <a:r>
              <a:rPr lang="en-IN" dirty="0" err="1"/>
              <a:t>analyze</a:t>
            </a:r>
            <a:r>
              <a:rPr lang="en-IN" dirty="0"/>
              <a:t> crowd density in real time, and generate automated alerts through SMS and email when safety thresholds are exceeded.</a:t>
            </a:r>
          </a:p>
          <a:p>
            <a:pPr marL="0" indent="0">
              <a:buNone/>
            </a:pPr>
            <a:r>
              <a:rPr lang="en-IN" b="1" dirty="0"/>
              <a:t>Objectives of the Project</a:t>
            </a:r>
          </a:p>
          <a:p>
            <a:r>
              <a:rPr lang="en-IN" dirty="0"/>
              <a:t>To detect and count people in real time using deep learning–based object detection</a:t>
            </a:r>
          </a:p>
          <a:p>
            <a:r>
              <a:rPr lang="en-IN" dirty="0"/>
              <a:t>To monitor crowd density across multiple zones and classify risk levels</a:t>
            </a:r>
          </a:p>
          <a:p>
            <a:r>
              <a:rPr lang="en-IN" dirty="0"/>
              <a:t>To generate automated alerts for crowd congestion and emergency situations</a:t>
            </a:r>
          </a:p>
          <a:p>
            <a:r>
              <a:rPr lang="en-IN" dirty="0"/>
              <a:t>To provide a real-time dashboard and API for monitoring, analysis, and decision support</a:t>
            </a:r>
          </a:p>
        </p:txBody>
      </p:sp>
    </p:spTree>
    <p:extLst>
      <p:ext uri="{BB962C8B-B14F-4D97-AF65-F5344CB8AC3E}">
        <p14:creationId xmlns:p14="http://schemas.microsoft.com/office/powerpoint/2010/main" val="73597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9671F9-1D88-FF43-6D93-2F2798E1DCC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D16A300-0201-B4A9-150E-3878D099B049}"/>
              </a:ext>
            </a:extLst>
          </p:cNvPr>
          <p:cNvSpPr>
            <a:spLocks noGrp="1"/>
          </p:cNvSpPr>
          <p:nvPr>
            <p:ph type="title"/>
          </p:nvPr>
        </p:nvSpPr>
        <p:spPr/>
        <p:txBody>
          <a:bodyPr/>
          <a:lstStyle/>
          <a:p>
            <a:r>
              <a:rPr lang="en-US" dirty="0"/>
              <a:t>3. Related Work</a:t>
            </a:r>
            <a:endParaRPr lang="en-IN" b="1" dirty="0"/>
          </a:p>
        </p:txBody>
      </p:sp>
      <p:sp>
        <p:nvSpPr>
          <p:cNvPr id="4" name="Slide Number Placeholder 3">
            <a:extLst>
              <a:ext uri="{FF2B5EF4-FFF2-40B4-BE49-F238E27FC236}">
                <a16:creationId xmlns:a16="http://schemas.microsoft.com/office/drawing/2014/main" id="{1A7A0EB4-A143-0150-E03A-FC84FDEC71D4}"/>
              </a:ext>
            </a:extLst>
          </p:cNvPr>
          <p:cNvSpPr>
            <a:spLocks noGrp="1"/>
          </p:cNvSpPr>
          <p:nvPr>
            <p:ph type="sldNum" sz="quarter" idx="12"/>
          </p:nvPr>
        </p:nvSpPr>
        <p:spPr/>
        <p:txBody>
          <a:bodyPr/>
          <a:lstStyle/>
          <a:p>
            <a:fld id="{03F67448-8E76-4088-8C0F-9DC880FFD75C}" type="slidenum">
              <a:rPr lang="en-IN" smtClean="0"/>
              <a:t>6</a:t>
            </a:fld>
            <a:endParaRPr lang="en-IN"/>
          </a:p>
        </p:txBody>
      </p:sp>
      <p:sp>
        <p:nvSpPr>
          <p:cNvPr id="6" name="Content Placeholder 5">
            <a:extLst>
              <a:ext uri="{FF2B5EF4-FFF2-40B4-BE49-F238E27FC236}">
                <a16:creationId xmlns:a16="http://schemas.microsoft.com/office/drawing/2014/main" id="{6B8A8614-4834-5D77-8EEB-0A9BA2EB6EE3}"/>
              </a:ext>
            </a:extLst>
          </p:cNvPr>
          <p:cNvSpPr>
            <a:spLocks noGrp="1"/>
          </p:cNvSpPr>
          <p:nvPr>
            <p:ph idx="1"/>
          </p:nvPr>
        </p:nvSpPr>
        <p:spPr/>
        <p:txBody>
          <a:bodyPr/>
          <a:lstStyle/>
          <a:p>
            <a:pPr marL="0" indent="0">
              <a:buNone/>
            </a:pPr>
            <a:r>
              <a:rPr lang="en-IN" dirty="0"/>
              <a:t>Crowd monitoring and management has been an active research area in computer vision and intelligent surveillance systems. Early approaches relied on manual observation and basic sensor-based counting, which were inefficient for large-scale and dynamic environments. With advances in computer vision and deep learning, automated crowd analysis using video streams has become more accurate and scalable.</a:t>
            </a:r>
          </a:p>
        </p:txBody>
      </p:sp>
    </p:spTree>
    <p:extLst>
      <p:ext uri="{BB962C8B-B14F-4D97-AF65-F5344CB8AC3E}">
        <p14:creationId xmlns:p14="http://schemas.microsoft.com/office/powerpoint/2010/main" val="3481676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D5D5-C94A-BC05-2E85-346442F70D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D6FDF5-3E9D-D666-4F33-C2A21DB98689}"/>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4A622A5-72A6-DC20-0F37-EA32046A484E}"/>
              </a:ext>
            </a:extLst>
          </p:cNvPr>
          <p:cNvSpPr>
            <a:spLocks noGrp="1"/>
          </p:cNvSpPr>
          <p:nvPr>
            <p:ph type="title"/>
          </p:nvPr>
        </p:nvSpPr>
        <p:spPr/>
        <p:txBody>
          <a:bodyPr/>
          <a:lstStyle/>
          <a:p>
            <a:r>
              <a:rPr lang="en-US" dirty="0"/>
              <a:t>3. Related Work</a:t>
            </a:r>
            <a:endParaRPr lang="en-IN" b="1" dirty="0"/>
          </a:p>
        </p:txBody>
      </p:sp>
      <p:sp>
        <p:nvSpPr>
          <p:cNvPr id="4" name="Slide Number Placeholder 3">
            <a:extLst>
              <a:ext uri="{FF2B5EF4-FFF2-40B4-BE49-F238E27FC236}">
                <a16:creationId xmlns:a16="http://schemas.microsoft.com/office/drawing/2014/main" id="{EB435D8F-64F2-5C18-EF7B-C0E61FB03337}"/>
              </a:ext>
            </a:extLst>
          </p:cNvPr>
          <p:cNvSpPr>
            <a:spLocks noGrp="1"/>
          </p:cNvSpPr>
          <p:nvPr>
            <p:ph type="sldNum" sz="quarter" idx="12"/>
          </p:nvPr>
        </p:nvSpPr>
        <p:spPr/>
        <p:txBody>
          <a:bodyPr/>
          <a:lstStyle/>
          <a:p>
            <a:fld id="{03F67448-8E76-4088-8C0F-9DC880FFD75C}" type="slidenum">
              <a:rPr lang="en-IN" smtClean="0"/>
              <a:t>7</a:t>
            </a:fld>
            <a:endParaRPr lang="en-IN"/>
          </a:p>
        </p:txBody>
      </p:sp>
      <p:sp>
        <p:nvSpPr>
          <p:cNvPr id="6" name="Content Placeholder 5">
            <a:extLst>
              <a:ext uri="{FF2B5EF4-FFF2-40B4-BE49-F238E27FC236}">
                <a16:creationId xmlns:a16="http://schemas.microsoft.com/office/drawing/2014/main" id="{6EF911EE-1061-0291-463A-34F6E98F6593}"/>
              </a:ext>
            </a:extLst>
          </p:cNvPr>
          <p:cNvSpPr>
            <a:spLocks noGrp="1"/>
          </p:cNvSpPr>
          <p:nvPr>
            <p:ph idx="1"/>
          </p:nvPr>
        </p:nvSpPr>
        <p:spPr/>
        <p:txBody>
          <a:bodyPr>
            <a:normAutofit fontScale="70000" lnSpcReduction="20000"/>
          </a:bodyPr>
          <a:lstStyle/>
          <a:p>
            <a:pPr marL="0" indent="0">
              <a:buNone/>
            </a:pPr>
            <a:r>
              <a:rPr lang="en-IN" b="1" dirty="0"/>
              <a:t>Key Existing Works (Selected Studies)</a:t>
            </a:r>
          </a:p>
          <a:p>
            <a:r>
              <a:rPr lang="en-IN" b="1" dirty="0"/>
              <a:t>Viola and Jones (2001)</a:t>
            </a:r>
            <a:br>
              <a:rPr lang="en-IN" dirty="0"/>
            </a:br>
            <a:r>
              <a:rPr lang="en-IN" dirty="0"/>
              <a:t>Introduced Haar cascade–based object detection for human detection. While computationally efficient, the method struggles in dense crowds and varying lighting conditions.</a:t>
            </a:r>
          </a:p>
          <a:p>
            <a:r>
              <a:rPr lang="en-IN" b="1" dirty="0"/>
              <a:t>Dalal and Triggs (2005)</a:t>
            </a:r>
            <a:br>
              <a:rPr lang="en-IN" dirty="0"/>
            </a:br>
            <a:r>
              <a:rPr lang="en-IN" dirty="0"/>
              <a:t>Proposed Histogram of Oriented Gradients (HOG) for pedestrian detection. This approach improved detection accuracy but was not suitable for real-time multi-camera environments.</a:t>
            </a:r>
          </a:p>
          <a:p>
            <a:r>
              <a:rPr lang="en-IN" b="1" dirty="0"/>
              <a:t>Zhang et al. (2015)</a:t>
            </a:r>
            <a:br>
              <a:rPr lang="en-IN" dirty="0"/>
            </a:br>
            <a:r>
              <a:rPr lang="en-IN" dirty="0"/>
              <a:t>Used regression-based CNN models for crowd counting in highly dense scenes. Although effective, these models require large annotated datasets and are computationally expensive.</a:t>
            </a:r>
          </a:p>
          <a:p>
            <a:r>
              <a:rPr lang="en-IN" b="1" dirty="0"/>
              <a:t>Li et al. (2018)</a:t>
            </a:r>
            <a:br>
              <a:rPr lang="en-IN" dirty="0"/>
            </a:br>
            <a:r>
              <a:rPr lang="en-IN" dirty="0"/>
              <a:t>Applied deep convolutional neural networks for crowd density estimation using surveillance footage. The approach improved accuracy but lacked real-time alerting and deployment focus.</a:t>
            </a:r>
          </a:p>
          <a:p>
            <a:r>
              <a:rPr lang="en-IN" b="1" dirty="0"/>
              <a:t>Redmon et al. (2016)</a:t>
            </a:r>
            <a:br>
              <a:rPr lang="en-IN" dirty="0"/>
            </a:br>
            <a:r>
              <a:rPr lang="en-IN" dirty="0"/>
              <a:t>Introduced YOLO (You Only Look Once), enabling real-time object detection with a single neural network. This marked a major shift toward real-time crowd analysis systems.</a:t>
            </a:r>
          </a:p>
          <a:p>
            <a:pPr marL="0" indent="0">
              <a:buNone/>
            </a:pPr>
            <a:endParaRPr lang="en-IN" dirty="0"/>
          </a:p>
        </p:txBody>
      </p:sp>
    </p:spTree>
    <p:extLst>
      <p:ext uri="{BB962C8B-B14F-4D97-AF65-F5344CB8AC3E}">
        <p14:creationId xmlns:p14="http://schemas.microsoft.com/office/powerpoint/2010/main" val="1122495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ADB0-B9DE-8867-35CB-75BA8B513B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F00952-F0B1-CBDB-8835-A82AF2ADC8BF}"/>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491C77F-853B-4E64-B52F-ADD9B6769626}"/>
              </a:ext>
            </a:extLst>
          </p:cNvPr>
          <p:cNvSpPr>
            <a:spLocks noGrp="1"/>
          </p:cNvSpPr>
          <p:nvPr>
            <p:ph type="title"/>
          </p:nvPr>
        </p:nvSpPr>
        <p:spPr/>
        <p:txBody>
          <a:bodyPr/>
          <a:lstStyle/>
          <a:p>
            <a:r>
              <a:rPr lang="en-US" dirty="0"/>
              <a:t>3. Related Work</a:t>
            </a:r>
            <a:endParaRPr lang="en-IN" b="1" dirty="0"/>
          </a:p>
        </p:txBody>
      </p:sp>
      <p:sp>
        <p:nvSpPr>
          <p:cNvPr id="4" name="Slide Number Placeholder 3">
            <a:extLst>
              <a:ext uri="{FF2B5EF4-FFF2-40B4-BE49-F238E27FC236}">
                <a16:creationId xmlns:a16="http://schemas.microsoft.com/office/drawing/2014/main" id="{C2448F7A-ED32-2BCC-E5CC-395AFB89A081}"/>
              </a:ext>
            </a:extLst>
          </p:cNvPr>
          <p:cNvSpPr>
            <a:spLocks noGrp="1"/>
          </p:cNvSpPr>
          <p:nvPr>
            <p:ph type="sldNum" sz="quarter" idx="12"/>
          </p:nvPr>
        </p:nvSpPr>
        <p:spPr/>
        <p:txBody>
          <a:bodyPr/>
          <a:lstStyle/>
          <a:p>
            <a:fld id="{03F67448-8E76-4088-8C0F-9DC880FFD75C}" type="slidenum">
              <a:rPr lang="en-IN" smtClean="0"/>
              <a:t>8</a:t>
            </a:fld>
            <a:endParaRPr lang="en-IN"/>
          </a:p>
        </p:txBody>
      </p:sp>
      <p:sp>
        <p:nvSpPr>
          <p:cNvPr id="6" name="Content Placeholder 5">
            <a:extLst>
              <a:ext uri="{FF2B5EF4-FFF2-40B4-BE49-F238E27FC236}">
                <a16:creationId xmlns:a16="http://schemas.microsoft.com/office/drawing/2014/main" id="{5A385C64-6619-963A-EAD0-4C36B3CEF67F}"/>
              </a:ext>
            </a:extLst>
          </p:cNvPr>
          <p:cNvSpPr>
            <a:spLocks noGrp="1"/>
          </p:cNvSpPr>
          <p:nvPr>
            <p:ph idx="1"/>
          </p:nvPr>
        </p:nvSpPr>
        <p:spPr/>
        <p:txBody>
          <a:bodyPr>
            <a:normAutofit fontScale="92500" lnSpcReduction="20000"/>
          </a:bodyPr>
          <a:lstStyle/>
          <a:p>
            <a:pPr marL="0" indent="0">
              <a:buNone/>
            </a:pPr>
            <a:r>
              <a:rPr lang="en-IN" b="1" dirty="0"/>
              <a:t>Recent and Advanced Approaches</a:t>
            </a:r>
          </a:p>
          <a:p>
            <a:r>
              <a:rPr lang="en-IN" b="1" dirty="0" err="1"/>
              <a:t>Bochkovskiy</a:t>
            </a:r>
            <a:r>
              <a:rPr lang="en-IN" b="1" dirty="0"/>
              <a:t> et al. (2020)</a:t>
            </a:r>
            <a:br>
              <a:rPr lang="en-IN" dirty="0"/>
            </a:br>
            <a:r>
              <a:rPr lang="en-IN" dirty="0"/>
              <a:t>YOLOv4 improved detection speed and accuracy, making it suitable for live surveillance systems but requiring high computational resources.</a:t>
            </a:r>
          </a:p>
          <a:p>
            <a:r>
              <a:rPr lang="en-IN" b="1" dirty="0" err="1"/>
              <a:t>Jocher</a:t>
            </a:r>
            <a:r>
              <a:rPr lang="en-IN" b="1" dirty="0"/>
              <a:t> et al. (2023)</a:t>
            </a:r>
            <a:br>
              <a:rPr lang="en-IN" dirty="0"/>
            </a:br>
            <a:r>
              <a:rPr lang="en-IN" dirty="0"/>
              <a:t>YOLOv8 introduced lightweight models (YOLO nano) optimized for real-time detection on edge and low-resource systems, ideal for multi-zone crowd monitoring.</a:t>
            </a:r>
          </a:p>
          <a:p>
            <a:r>
              <a:rPr lang="en-IN" b="1" dirty="0"/>
              <a:t>Patel et al. (2024)</a:t>
            </a:r>
            <a:br>
              <a:rPr lang="en-IN" dirty="0"/>
            </a:br>
            <a:r>
              <a:rPr lang="en-IN" dirty="0"/>
              <a:t>Developed an AI-based crowd density monitoring system with threshold-based alerts, but the system lacked anomaly detection and scalable API integration.</a:t>
            </a:r>
          </a:p>
          <a:p>
            <a:r>
              <a:rPr lang="en-IN" b="1" dirty="0"/>
              <a:t>Kumar and Singh (2025)</a:t>
            </a:r>
            <a:br>
              <a:rPr lang="en-IN" dirty="0"/>
            </a:br>
            <a:r>
              <a:rPr lang="en-IN" dirty="0"/>
              <a:t>Proposed an IoT-integrated smart surveillance framework, focusing on data aggregation but with limited real-time visual analytics.</a:t>
            </a:r>
          </a:p>
          <a:p>
            <a:pPr marL="0" indent="0">
              <a:buNone/>
            </a:pPr>
            <a:endParaRPr lang="en-IN" dirty="0"/>
          </a:p>
        </p:txBody>
      </p:sp>
    </p:spTree>
    <p:extLst>
      <p:ext uri="{BB962C8B-B14F-4D97-AF65-F5344CB8AC3E}">
        <p14:creationId xmlns:p14="http://schemas.microsoft.com/office/powerpoint/2010/main" val="2159441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28E0-BDF0-C032-4167-A5ADA49185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7602C1-63B2-3135-2493-EB883CEA6231}"/>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C59FF44-5C06-E633-B3DD-9F12CF23E7FA}"/>
              </a:ext>
            </a:extLst>
          </p:cNvPr>
          <p:cNvSpPr>
            <a:spLocks noGrp="1"/>
          </p:cNvSpPr>
          <p:nvPr>
            <p:ph type="title"/>
          </p:nvPr>
        </p:nvSpPr>
        <p:spPr/>
        <p:txBody>
          <a:bodyPr/>
          <a:lstStyle/>
          <a:p>
            <a:r>
              <a:rPr lang="en-US" dirty="0"/>
              <a:t>3. Related Work</a:t>
            </a:r>
            <a:endParaRPr lang="en-IN" b="1" dirty="0"/>
          </a:p>
        </p:txBody>
      </p:sp>
      <p:sp>
        <p:nvSpPr>
          <p:cNvPr id="4" name="Slide Number Placeholder 3">
            <a:extLst>
              <a:ext uri="{FF2B5EF4-FFF2-40B4-BE49-F238E27FC236}">
                <a16:creationId xmlns:a16="http://schemas.microsoft.com/office/drawing/2014/main" id="{966B1D37-289B-798F-831A-69D6625A569B}"/>
              </a:ext>
            </a:extLst>
          </p:cNvPr>
          <p:cNvSpPr>
            <a:spLocks noGrp="1"/>
          </p:cNvSpPr>
          <p:nvPr>
            <p:ph type="sldNum" sz="quarter" idx="12"/>
          </p:nvPr>
        </p:nvSpPr>
        <p:spPr/>
        <p:txBody>
          <a:bodyPr/>
          <a:lstStyle/>
          <a:p>
            <a:fld id="{03F67448-8E76-4088-8C0F-9DC880FFD75C}" type="slidenum">
              <a:rPr lang="en-IN" smtClean="0"/>
              <a:t>9</a:t>
            </a:fld>
            <a:endParaRPr lang="en-IN"/>
          </a:p>
        </p:txBody>
      </p:sp>
      <p:graphicFrame>
        <p:nvGraphicFramePr>
          <p:cNvPr id="7" name="Table 6">
            <a:extLst>
              <a:ext uri="{FF2B5EF4-FFF2-40B4-BE49-F238E27FC236}">
                <a16:creationId xmlns:a16="http://schemas.microsoft.com/office/drawing/2014/main" id="{53309648-171C-A81A-2012-7E32F89F30AB}"/>
              </a:ext>
            </a:extLst>
          </p:cNvPr>
          <p:cNvGraphicFramePr>
            <a:graphicFrameLocks noGrp="1"/>
          </p:cNvGraphicFramePr>
          <p:nvPr>
            <p:extLst>
              <p:ext uri="{D42A27DB-BD31-4B8C-83A1-F6EECF244321}">
                <p14:modId xmlns:p14="http://schemas.microsoft.com/office/powerpoint/2010/main" val="1215423442"/>
              </p:ext>
            </p:extLst>
          </p:nvPr>
        </p:nvGraphicFramePr>
        <p:xfrm>
          <a:off x="838204" y="1614869"/>
          <a:ext cx="10515600" cy="3018663"/>
        </p:xfrm>
        <a:graphic>
          <a:graphicData uri="http://schemas.openxmlformats.org/drawingml/2006/table">
            <a:tbl>
              <a:tblPr/>
              <a:tblGrid>
                <a:gridCol w="2103120">
                  <a:extLst>
                    <a:ext uri="{9D8B030D-6E8A-4147-A177-3AD203B41FA5}">
                      <a16:colId xmlns:a16="http://schemas.microsoft.com/office/drawing/2014/main" val="2370479862"/>
                    </a:ext>
                  </a:extLst>
                </a:gridCol>
                <a:gridCol w="2103120">
                  <a:extLst>
                    <a:ext uri="{9D8B030D-6E8A-4147-A177-3AD203B41FA5}">
                      <a16:colId xmlns:a16="http://schemas.microsoft.com/office/drawing/2014/main" val="3595861255"/>
                    </a:ext>
                  </a:extLst>
                </a:gridCol>
                <a:gridCol w="2103120">
                  <a:extLst>
                    <a:ext uri="{9D8B030D-6E8A-4147-A177-3AD203B41FA5}">
                      <a16:colId xmlns:a16="http://schemas.microsoft.com/office/drawing/2014/main" val="41957276"/>
                    </a:ext>
                  </a:extLst>
                </a:gridCol>
                <a:gridCol w="2103120">
                  <a:extLst>
                    <a:ext uri="{9D8B030D-6E8A-4147-A177-3AD203B41FA5}">
                      <a16:colId xmlns:a16="http://schemas.microsoft.com/office/drawing/2014/main" val="2714670998"/>
                    </a:ext>
                  </a:extLst>
                </a:gridCol>
                <a:gridCol w="2103120">
                  <a:extLst>
                    <a:ext uri="{9D8B030D-6E8A-4147-A177-3AD203B41FA5}">
                      <a16:colId xmlns:a16="http://schemas.microsoft.com/office/drawing/2014/main" val="954454351"/>
                    </a:ext>
                  </a:extLst>
                </a:gridCol>
              </a:tblGrid>
              <a:tr h="0">
                <a:tc>
                  <a:txBody>
                    <a:bodyPr/>
                    <a:lstStyle/>
                    <a:p>
                      <a:pPr>
                        <a:buNone/>
                      </a:pPr>
                      <a:r>
                        <a:rPr lang="en-IN"/>
                        <a:t>Paper /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Technique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Dataset /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9558300"/>
                  </a:ext>
                </a:extLst>
              </a:tr>
              <a:tr h="0">
                <a:tc>
                  <a:txBody>
                    <a:bodyPr/>
                    <a:lstStyle/>
                    <a:p>
                      <a:pPr>
                        <a:buNone/>
                      </a:pPr>
                      <a:r>
                        <a:rPr lang="en-IN"/>
                        <a:t>Dalal &amp; Triggs (2005)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HOG +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Pedestrian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Improved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real-time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4793879"/>
                  </a:ext>
                </a:extLst>
              </a:tr>
              <a:tr h="0">
                <a:tc>
                  <a:txBody>
                    <a:bodyPr/>
                    <a:lstStyle/>
                    <a:p>
                      <a:pPr>
                        <a:buNone/>
                      </a:pPr>
                      <a:r>
                        <a:rPr lang="en-IN"/>
                        <a:t>Zhang et al. (2015)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CNN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Dense crowd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 computation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960091"/>
                  </a:ext>
                </a:extLst>
              </a:tr>
              <a:tr h="0">
                <a:tc>
                  <a:txBody>
                    <a:bodyPr/>
                    <a:lstStyle/>
                    <a:p>
                      <a:pPr>
                        <a:buNone/>
                      </a:pPr>
                      <a:r>
                        <a:rPr lang="en-IN"/>
                        <a:t>Redmon et al. (2016)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YOLO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Video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Real-time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Lower accuracy in dense scenes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0984782"/>
                  </a:ext>
                </a:extLst>
              </a:tr>
              <a:tr h="0">
                <a:tc>
                  <a:txBody>
                    <a:bodyPr/>
                    <a:lstStyle/>
                    <a:p>
                      <a:pPr>
                        <a:buNone/>
                      </a:pPr>
                      <a:r>
                        <a:rPr lang="en-IN"/>
                        <a:t>Bochkovskiy et al.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YOLOv4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Surveillance 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Better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Resource-intensive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04308"/>
                  </a:ext>
                </a:extLst>
              </a:tr>
              <a:tr h="0">
                <a:tc>
                  <a:txBody>
                    <a:bodyPr/>
                    <a:lstStyle/>
                    <a:p>
                      <a:pPr>
                        <a:buNone/>
                      </a:pPr>
                      <a:r>
                        <a:rPr lang="en-IN"/>
                        <a:t>Jocher et al.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YOLOv8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Live video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Fast &amp; lightweight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Needs system-level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8513688"/>
                  </a:ext>
                </a:extLst>
              </a:tr>
            </a:tbl>
          </a:graphicData>
        </a:graphic>
      </p:graphicFrame>
    </p:spTree>
    <p:extLst>
      <p:ext uri="{BB962C8B-B14F-4D97-AF65-F5344CB8AC3E}">
        <p14:creationId xmlns:p14="http://schemas.microsoft.com/office/powerpoint/2010/main" val="3161191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8853-C4ED-66ED-05F1-9F2BAC2755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F656BD-8086-CE99-ED78-7136B99CE2B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9298CB4-89C4-F66C-E85D-60A27AC1233E}"/>
              </a:ext>
            </a:extLst>
          </p:cNvPr>
          <p:cNvSpPr>
            <a:spLocks noGrp="1"/>
          </p:cNvSpPr>
          <p:nvPr>
            <p:ph type="title"/>
          </p:nvPr>
        </p:nvSpPr>
        <p:spPr/>
        <p:txBody>
          <a:bodyPr/>
          <a:lstStyle/>
          <a:p>
            <a:r>
              <a:rPr lang="en-US" dirty="0"/>
              <a:t>4. Proposed System</a:t>
            </a:r>
            <a:endParaRPr lang="en-IN" b="1" dirty="0"/>
          </a:p>
        </p:txBody>
      </p:sp>
      <p:sp>
        <p:nvSpPr>
          <p:cNvPr id="4" name="Slide Number Placeholder 3">
            <a:extLst>
              <a:ext uri="{FF2B5EF4-FFF2-40B4-BE49-F238E27FC236}">
                <a16:creationId xmlns:a16="http://schemas.microsoft.com/office/drawing/2014/main" id="{D5815640-F884-77E4-79B4-6C56D08BDE78}"/>
              </a:ext>
            </a:extLst>
          </p:cNvPr>
          <p:cNvSpPr>
            <a:spLocks noGrp="1"/>
          </p:cNvSpPr>
          <p:nvPr>
            <p:ph type="sldNum" sz="quarter" idx="12"/>
          </p:nvPr>
        </p:nvSpPr>
        <p:spPr/>
        <p:txBody>
          <a:bodyPr/>
          <a:lstStyle/>
          <a:p>
            <a:fld id="{03F67448-8E76-4088-8C0F-9DC880FFD75C}" type="slidenum">
              <a:rPr lang="en-IN" smtClean="0"/>
              <a:t>10</a:t>
            </a:fld>
            <a:endParaRPr lang="en-IN"/>
          </a:p>
        </p:txBody>
      </p:sp>
      <p:sp>
        <p:nvSpPr>
          <p:cNvPr id="5" name="TextBox 4">
            <a:extLst>
              <a:ext uri="{FF2B5EF4-FFF2-40B4-BE49-F238E27FC236}">
                <a16:creationId xmlns:a16="http://schemas.microsoft.com/office/drawing/2014/main" id="{0E937676-42F4-A02E-6818-887E72D40E68}"/>
              </a:ext>
            </a:extLst>
          </p:cNvPr>
          <p:cNvSpPr txBox="1"/>
          <p:nvPr/>
        </p:nvSpPr>
        <p:spPr>
          <a:xfrm>
            <a:off x="838204" y="1443840"/>
            <a:ext cx="10515597" cy="3970318"/>
          </a:xfrm>
          <a:prstGeom prst="rect">
            <a:avLst/>
          </a:prstGeom>
          <a:noFill/>
        </p:spPr>
        <p:txBody>
          <a:bodyPr wrap="square">
            <a:spAutoFit/>
          </a:bodyPr>
          <a:lstStyle/>
          <a:p>
            <a:pPr>
              <a:buNone/>
            </a:pPr>
            <a:r>
              <a:rPr lang="en-IN" b="1" dirty="0"/>
              <a:t>Identified Research Gap</a:t>
            </a:r>
          </a:p>
          <a:p>
            <a:pPr>
              <a:buNone/>
            </a:pPr>
            <a:r>
              <a:rPr lang="en-IN" dirty="0"/>
              <a:t>Most existing crowd monitoring systems focus only on detection accuracy and offline analysis. They often </a:t>
            </a:r>
            <a:r>
              <a:rPr lang="en-IN" b="1" dirty="0"/>
              <a:t>lack real-time multi-zone monitoring, automated alert mechanisms, anomaly detection, and integrated dashboards with APIs</a:t>
            </a:r>
            <a:r>
              <a:rPr lang="en-IN" dirty="0"/>
              <a:t>. Additionally, many solutions are not optimized for lightweight deployment and practical public safety applications.</a:t>
            </a:r>
          </a:p>
          <a:p>
            <a:pPr>
              <a:buNone/>
            </a:pPr>
            <a:br>
              <a:rPr lang="en-IN" dirty="0"/>
            </a:br>
            <a:endParaRPr lang="en-IN" dirty="0"/>
          </a:p>
          <a:p>
            <a:pPr>
              <a:buNone/>
            </a:pPr>
            <a:r>
              <a:rPr lang="en-IN" b="1" dirty="0"/>
              <a:t>Relevance to the Proposed System</a:t>
            </a:r>
          </a:p>
          <a:p>
            <a:pPr>
              <a:buNone/>
            </a:pPr>
            <a:r>
              <a:rPr lang="en-IN" dirty="0"/>
              <a:t>The proposed system addresses these gaps by:</a:t>
            </a:r>
          </a:p>
          <a:p>
            <a:pPr>
              <a:buFont typeface="Arial" panose="020B0604020202020204" pitchFamily="34" charset="0"/>
              <a:buChar char="•"/>
            </a:pPr>
            <a:r>
              <a:rPr lang="en-IN" dirty="0"/>
              <a:t> Using </a:t>
            </a:r>
            <a:r>
              <a:rPr lang="en-IN" b="1" dirty="0"/>
              <a:t>YOLOv8 nano</a:t>
            </a:r>
            <a:r>
              <a:rPr lang="en-IN" dirty="0"/>
              <a:t> for real-time, low-latency person detection</a:t>
            </a:r>
          </a:p>
          <a:p>
            <a:pPr>
              <a:buFont typeface="Arial" panose="020B0604020202020204" pitchFamily="34" charset="0"/>
              <a:buChar char="•"/>
            </a:pPr>
            <a:r>
              <a:rPr lang="en-IN" dirty="0"/>
              <a:t> Supporting </a:t>
            </a:r>
            <a:r>
              <a:rPr lang="en-IN" b="1" dirty="0"/>
              <a:t>multi-zone crowd monitoring</a:t>
            </a:r>
            <a:endParaRPr lang="en-IN" dirty="0"/>
          </a:p>
          <a:p>
            <a:pPr>
              <a:buFont typeface="Arial" panose="020B0604020202020204" pitchFamily="34" charset="0"/>
              <a:buChar char="•"/>
            </a:pPr>
            <a:r>
              <a:rPr lang="en-IN" dirty="0"/>
              <a:t> Integrating </a:t>
            </a:r>
            <a:r>
              <a:rPr lang="en-IN" b="1" dirty="0"/>
              <a:t>automated SMS and email alerts</a:t>
            </a:r>
            <a:endParaRPr lang="en-IN" dirty="0"/>
          </a:p>
          <a:p>
            <a:pPr>
              <a:buFont typeface="Arial" panose="020B0604020202020204" pitchFamily="34" charset="0"/>
              <a:buChar char="•"/>
            </a:pPr>
            <a:r>
              <a:rPr lang="en-IN" dirty="0"/>
              <a:t> Providing a </a:t>
            </a:r>
            <a:r>
              <a:rPr lang="en-IN" b="1" dirty="0"/>
              <a:t>real-time dashboard, WebSocket updates, and REST APIs</a:t>
            </a:r>
            <a:endParaRPr lang="en-IN" dirty="0"/>
          </a:p>
          <a:p>
            <a:pPr>
              <a:buFont typeface="Arial" panose="020B0604020202020204" pitchFamily="34" charset="0"/>
              <a:buChar char="•"/>
            </a:pPr>
            <a:r>
              <a:rPr lang="en-IN" dirty="0"/>
              <a:t> Enabling </a:t>
            </a:r>
            <a:r>
              <a:rPr lang="en-IN" b="1" dirty="0"/>
              <a:t>historical data analysis and emergency overrides</a:t>
            </a:r>
            <a:endParaRPr lang="en-IN" dirty="0"/>
          </a:p>
        </p:txBody>
      </p:sp>
    </p:spTree>
    <p:extLst>
      <p:ext uri="{BB962C8B-B14F-4D97-AF65-F5344CB8AC3E}">
        <p14:creationId xmlns:p14="http://schemas.microsoft.com/office/powerpoint/2010/main" val="2888324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FCD5FD-22B2-69BA-55EE-2D37D34048D9}"/>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8267B1-D3DF-DA0F-244D-DB2CDE07AD3D}"/>
              </a:ext>
            </a:extLst>
          </p:cNvPr>
          <p:cNvSpPr>
            <a:spLocks noGrp="1"/>
          </p:cNvSpPr>
          <p:nvPr>
            <p:ph type="title"/>
          </p:nvPr>
        </p:nvSpPr>
        <p:spPr/>
        <p:txBody>
          <a:bodyPr/>
          <a:lstStyle/>
          <a:p>
            <a:r>
              <a:rPr lang="en-IN" dirty="0"/>
              <a:t>4. Methodology</a:t>
            </a:r>
          </a:p>
        </p:txBody>
      </p:sp>
      <p:sp>
        <p:nvSpPr>
          <p:cNvPr id="3" name="Content Placeholder 2">
            <a:extLst>
              <a:ext uri="{FF2B5EF4-FFF2-40B4-BE49-F238E27FC236}">
                <a16:creationId xmlns:a16="http://schemas.microsoft.com/office/drawing/2014/main" id="{8ECBC518-09BA-7B10-1B89-AF71704941AC}"/>
              </a:ext>
            </a:extLst>
          </p:cNvPr>
          <p:cNvSpPr>
            <a:spLocks noGrp="1"/>
          </p:cNvSpPr>
          <p:nvPr>
            <p:ph idx="1"/>
          </p:nvPr>
        </p:nvSpPr>
        <p:spPr/>
        <p:txBody>
          <a:bodyPr>
            <a:normAutofit fontScale="62500" lnSpcReduction="20000"/>
          </a:bodyPr>
          <a:lstStyle/>
          <a:p>
            <a:pPr marL="0" indent="0">
              <a:buNone/>
            </a:pPr>
            <a:r>
              <a:rPr lang="en-IN" b="1" dirty="0"/>
              <a:t>Technologies Used</a:t>
            </a:r>
          </a:p>
          <a:p>
            <a:r>
              <a:rPr lang="en-IN" b="1" dirty="0"/>
              <a:t>Programming Language:</a:t>
            </a:r>
            <a:r>
              <a:rPr lang="en-IN" dirty="0"/>
              <a:t> Python</a:t>
            </a:r>
          </a:p>
          <a:p>
            <a:r>
              <a:rPr lang="en-IN" b="1" dirty="0"/>
              <a:t>Deep Learning Model:</a:t>
            </a:r>
            <a:r>
              <a:rPr lang="en-IN" dirty="0"/>
              <a:t> YOLOv8 (YOLO nano)</a:t>
            </a:r>
          </a:p>
          <a:p>
            <a:r>
              <a:rPr lang="en-IN" b="1" dirty="0"/>
              <a:t>Backend Framework:</a:t>
            </a:r>
            <a:r>
              <a:rPr lang="en-IN" dirty="0"/>
              <a:t> </a:t>
            </a:r>
            <a:r>
              <a:rPr lang="en-IN" dirty="0" err="1"/>
              <a:t>FastAPI</a:t>
            </a:r>
            <a:endParaRPr lang="en-IN" dirty="0"/>
          </a:p>
          <a:p>
            <a:r>
              <a:rPr lang="en-IN" b="1" dirty="0"/>
              <a:t>Database:</a:t>
            </a:r>
            <a:r>
              <a:rPr lang="en-IN" dirty="0"/>
              <a:t> SQLite</a:t>
            </a:r>
          </a:p>
          <a:p>
            <a:r>
              <a:rPr lang="en-IN" b="1" dirty="0"/>
              <a:t>Notifications:</a:t>
            </a:r>
            <a:r>
              <a:rPr lang="en-IN" dirty="0"/>
              <a:t> Twilio (SMS), SMTP (Email)</a:t>
            </a:r>
          </a:p>
          <a:p>
            <a:r>
              <a:rPr lang="en-IN" b="1" dirty="0"/>
              <a:t>Frontend:</a:t>
            </a:r>
            <a:r>
              <a:rPr lang="en-IN" dirty="0"/>
              <a:t> Web-based real-time dashboard</a:t>
            </a:r>
          </a:p>
          <a:p>
            <a:r>
              <a:rPr lang="en-IN" b="1" dirty="0"/>
              <a:t>Communication:</a:t>
            </a:r>
            <a:r>
              <a:rPr lang="en-IN" dirty="0"/>
              <a:t> REST API and </a:t>
            </a:r>
            <a:r>
              <a:rPr lang="en-IN" dirty="0" err="1"/>
              <a:t>WebSockets</a:t>
            </a:r>
            <a:endParaRPr lang="en-IN" dirty="0"/>
          </a:p>
          <a:p>
            <a:pPr marL="0" indent="0">
              <a:buNone/>
            </a:pPr>
            <a:r>
              <a:rPr lang="en-IN" b="1" dirty="0"/>
              <a:t>System Phases</a:t>
            </a:r>
          </a:p>
          <a:p>
            <a:r>
              <a:rPr lang="en-IN" dirty="0"/>
              <a:t>Video capture from multiple zones</a:t>
            </a:r>
          </a:p>
          <a:p>
            <a:r>
              <a:rPr lang="en-IN" dirty="0"/>
              <a:t>Frame preprocessing and person detection using YOLOv8</a:t>
            </a:r>
          </a:p>
          <a:p>
            <a:r>
              <a:rPr lang="en-IN" dirty="0"/>
              <a:t>Crowd counting and density calculation</a:t>
            </a:r>
          </a:p>
          <a:p>
            <a:r>
              <a:rPr lang="en-IN" dirty="0"/>
              <a:t>Risk level classification (Green, Yellow, Red)</a:t>
            </a:r>
          </a:p>
          <a:p>
            <a:r>
              <a:rPr lang="en-IN" dirty="0"/>
              <a:t>Alert generation and notification</a:t>
            </a:r>
          </a:p>
          <a:p>
            <a:r>
              <a:rPr lang="en-IN" dirty="0"/>
              <a:t>Data storage and real-time dashboard updates</a:t>
            </a:r>
          </a:p>
          <a:p>
            <a:pPr marL="0" indent="0">
              <a:buNone/>
            </a:pPr>
            <a:endParaRPr lang="en-IN" dirty="0"/>
          </a:p>
        </p:txBody>
      </p:sp>
      <p:sp>
        <p:nvSpPr>
          <p:cNvPr id="4" name="Slide Number Placeholder 3">
            <a:extLst>
              <a:ext uri="{FF2B5EF4-FFF2-40B4-BE49-F238E27FC236}">
                <a16:creationId xmlns:a16="http://schemas.microsoft.com/office/drawing/2014/main" id="{DDD0C20C-A69D-2FDB-054D-79DD6A92C54E}"/>
              </a:ext>
            </a:extLst>
          </p:cNvPr>
          <p:cNvSpPr>
            <a:spLocks noGrp="1"/>
          </p:cNvSpPr>
          <p:nvPr>
            <p:ph type="sldNum" sz="quarter" idx="12"/>
          </p:nvPr>
        </p:nvSpPr>
        <p:spPr/>
        <p:txBody>
          <a:bodyPr/>
          <a:lstStyle/>
          <a:p>
            <a:fld id="{03F67448-8E76-4088-8C0F-9DC880FFD75C}" type="slidenum">
              <a:rPr lang="en-IN" smtClean="0"/>
              <a:t>11</a:t>
            </a:fld>
            <a:endParaRPr lang="en-IN"/>
          </a:p>
        </p:txBody>
      </p:sp>
    </p:spTree>
    <p:extLst>
      <p:ext uri="{BB962C8B-B14F-4D97-AF65-F5344CB8AC3E}">
        <p14:creationId xmlns:p14="http://schemas.microsoft.com/office/powerpoint/2010/main" val="4150470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AD8BF6-A208-EA6E-E246-3A8BC441AA12}"/>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D40697F-71F3-2739-14CE-FB28C006E519}"/>
              </a:ext>
            </a:extLst>
          </p:cNvPr>
          <p:cNvSpPr>
            <a:spLocks noGrp="1"/>
          </p:cNvSpPr>
          <p:nvPr>
            <p:ph type="title"/>
          </p:nvPr>
        </p:nvSpPr>
        <p:spPr/>
        <p:txBody>
          <a:bodyPr>
            <a:normAutofit/>
          </a:bodyPr>
          <a:lstStyle/>
          <a:p>
            <a:r>
              <a:rPr lang="en-US" dirty="0"/>
              <a:t>5. Experimental Setup</a:t>
            </a:r>
            <a:endParaRPr lang="en-IN" dirty="0"/>
          </a:p>
        </p:txBody>
      </p:sp>
      <p:sp>
        <p:nvSpPr>
          <p:cNvPr id="4" name="Slide Number Placeholder 3">
            <a:extLst>
              <a:ext uri="{FF2B5EF4-FFF2-40B4-BE49-F238E27FC236}">
                <a16:creationId xmlns:a16="http://schemas.microsoft.com/office/drawing/2014/main" id="{BB42F06E-70D0-F280-EC7E-CA09D1B74ED6}"/>
              </a:ext>
            </a:extLst>
          </p:cNvPr>
          <p:cNvSpPr>
            <a:spLocks noGrp="1"/>
          </p:cNvSpPr>
          <p:nvPr>
            <p:ph type="sldNum" sz="quarter" idx="12"/>
          </p:nvPr>
        </p:nvSpPr>
        <p:spPr/>
        <p:txBody>
          <a:bodyPr/>
          <a:lstStyle/>
          <a:p>
            <a:fld id="{03F67448-8E76-4088-8C0F-9DC880FFD75C}" type="slidenum">
              <a:rPr lang="en-IN" smtClean="0"/>
              <a:t>12</a:t>
            </a:fld>
            <a:endParaRPr lang="en-IN"/>
          </a:p>
        </p:txBody>
      </p:sp>
      <p:sp>
        <p:nvSpPr>
          <p:cNvPr id="5" name="Rectangle 1">
            <a:extLst>
              <a:ext uri="{FF2B5EF4-FFF2-40B4-BE49-F238E27FC236}">
                <a16:creationId xmlns:a16="http://schemas.microsoft.com/office/drawing/2014/main" id="{3EB79402-5D15-DECB-013D-07263DD8A822}"/>
              </a:ext>
            </a:extLst>
          </p:cNvPr>
          <p:cNvSpPr>
            <a:spLocks noGrp="1" noChangeArrowheads="1"/>
          </p:cNvSpPr>
          <p:nvPr>
            <p:ph idx="1"/>
          </p:nvPr>
        </p:nvSpPr>
        <p:spPr bwMode="auto">
          <a:xfrm>
            <a:off x="838204" y="1351508"/>
            <a:ext cx="618951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Initialize system and load YOLOv8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Configure zones with capacity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Capture video frames from each zone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For each frame:</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Detect persons using YOLOv8</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Count number of detected individuals</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Calculate crowd density percentage for each zone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Classify density level:</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Green (≤30%)</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Yellow (31–60%)</a:t>
            </a:r>
          </a:p>
          <a:p>
            <a:pPr marL="457205" lvl="1" indent="0" defTabSz="91440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 Red (&gt;60%)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If density exceeds threshold and cooldown period is over: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Trigger SMS and email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Store results in database with timestamp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Update dashboard via WebSocket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Repeat process continuously</a:t>
            </a:r>
          </a:p>
        </p:txBody>
      </p:sp>
    </p:spTree>
    <p:extLst>
      <p:ext uri="{BB962C8B-B14F-4D97-AF65-F5344CB8AC3E}">
        <p14:creationId xmlns:p14="http://schemas.microsoft.com/office/powerpoint/2010/main" val="1734266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2BB438-F686-A5EF-5FAB-190A3654AE7C}"/>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79E819F-B9C6-C2C8-EC4C-FFEAFBDA4B37}"/>
              </a:ext>
            </a:extLst>
          </p:cNvPr>
          <p:cNvSpPr>
            <a:spLocks noGrp="1"/>
          </p:cNvSpPr>
          <p:nvPr>
            <p:ph type="title"/>
          </p:nvPr>
        </p:nvSpPr>
        <p:spPr/>
        <p:txBody>
          <a:bodyPr>
            <a:normAutofit/>
          </a:bodyPr>
          <a:lstStyle/>
          <a:p>
            <a:r>
              <a:rPr lang="en-US" dirty="0"/>
              <a:t>5. Experimental Setup</a:t>
            </a:r>
            <a:endParaRPr lang="en-IN" b="1" dirty="0"/>
          </a:p>
        </p:txBody>
      </p:sp>
      <p:sp>
        <p:nvSpPr>
          <p:cNvPr id="4" name="Slide Number Placeholder 3">
            <a:extLst>
              <a:ext uri="{FF2B5EF4-FFF2-40B4-BE49-F238E27FC236}">
                <a16:creationId xmlns:a16="http://schemas.microsoft.com/office/drawing/2014/main" id="{DB2DFB01-B45A-49FE-1308-EC957A11094C}"/>
              </a:ext>
            </a:extLst>
          </p:cNvPr>
          <p:cNvSpPr>
            <a:spLocks noGrp="1"/>
          </p:cNvSpPr>
          <p:nvPr>
            <p:ph type="sldNum" sz="quarter" idx="12"/>
          </p:nvPr>
        </p:nvSpPr>
        <p:spPr/>
        <p:txBody>
          <a:bodyPr/>
          <a:lstStyle/>
          <a:p>
            <a:fld id="{03F67448-8E76-4088-8C0F-9DC880FFD75C}" type="slidenum">
              <a:rPr lang="en-IN" smtClean="0"/>
              <a:t>13</a:t>
            </a:fld>
            <a:endParaRPr lang="en-IN"/>
          </a:p>
        </p:txBody>
      </p:sp>
      <p:pic>
        <p:nvPicPr>
          <p:cNvPr id="6" name="Picture 5" descr="A diagram of a system&#10;&#10;AI-generated content may be incorrect.">
            <a:extLst>
              <a:ext uri="{FF2B5EF4-FFF2-40B4-BE49-F238E27FC236}">
                <a16:creationId xmlns:a16="http://schemas.microsoft.com/office/drawing/2014/main" id="{E93D66B5-11BD-0FD0-C338-E550426DC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8526" y="1385453"/>
            <a:ext cx="6354619" cy="4765964"/>
          </a:xfrm>
          <a:prstGeom prst="rect">
            <a:avLst/>
          </a:prstGeom>
        </p:spPr>
      </p:pic>
    </p:spTree>
    <p:extLst>
      <p:ext uri="{BB962C8B-B14F-4D97-AF65-F5344CB8AC3E}">
        <p14:creationId xmlns:p14="http://schemas.microsoft.com/office/powerpoint/2010/main" val="3736874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87820C-ECE3-88B0-65E6-C93EB7E3AE51}"/>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CB4EA52-A6F1-C618-6B56-36806228FF40}"/>
              </a:ext>
            </a:extLst>
          </p:cNvPr>
          <p:cNvSpPr>
            <a:spLocks noGrp="1"/>
          </p:cNvSpPr>
          <p:nvPr>
            <p:ph type="title"/>
          </p:nvPr>
        </p:nvSpPr>
        <p:spPr/>
        <p:txBody>
          <a:bodyPr>
            <a:normAutofit/>
          </a:bodyPr>
          <a:lstStyle/>
          <a:p>
            <a:r>
              <a:rPr lang="en-IN" dirty="0"/>
              <a:t>6. Analysis</a:t>
            </a:r>
          </a:p>
        </p:txBody>
      </p:sp>
      <p:sp>
        <p:nvSpPr>
          <p:cNvPr id="3" name="Content Placeholder 2">
            <a:extLst>
              <a:ext uri="{FF2B5EF4-FFF2-40B4-BE49-F238E27FC236}">
                <a16:creationId xmlns:a16="http://schemas.microsoft.com/office/drawing/2014/main" id="{CA1EAA85-3C8D-D392-5F2B-8C077AF86215}"/>
              </a:ext>
            </a:extLst>
          </p:cNvPr>
          <p:cNvSpPr>
            <a:spLocks noGrp="1"/>
          </p:cNvSpPr>
          <p:nvPr>
            <p:ph idx="1"/>
          </p:nvPr>
        </p:nvSpPr>
        <p:spPr/>
        <p:txBody>
          <a:bodyPr/>
          <a:lstStyle/>
          <a:p>
            <a:pPr marL="0" indent="0">
              <a:buNone/>
            </a:pPr>
            <a:r>
              <a:rPr lang="en-IN" b="1" dirty="0"/>
              <a:t>Experimental Setup</a:t>
            </a:r>
          </a:p>
          <a:p>
            <a:r>
              <a:rPr lang="en-IN" b="1" dirty="0"/>
              <a:t>Input:</a:t>
            </a:r>
            <a:r>
              <a:rPr lang="en-IN" dirty="0"/>
              <a:t> Live and recorded video streams from multiple zones</a:t>
            </a:r>
          </a:p>
          <a:p>
            <a:r>
              <a:rPr lang="en-IN" b="1" dirty="0"/>
              <a:t>Model:</a:t>
            </a:r>
            <a:r>
              <a:rPr lang="en-IN" dirty="0"/>
              <a:t> YOLOv8 nano for person detection</a:t>
            </a:r>
          </a:p>
          <a:p>
            <a:r>
              <a:rPr lang="en-IN" b="1" dirty="0"/>
              <a:t>Evaluation Metrics:</a:t>
            </a:r>
            <a:endParaRPr lang="en-IN" dirty="0"/>
          </a:p>
          <a:p>
            <a:pPr lvl="1"/>
            <a:r>
              <a:rPr lang="en-IN" dirty="0"/>
              <a:t>People count accuracy</a:t>
            </a:r>
          </a:p>
          <a:p>
            <a:pPr lvl="1"/>
            <a:r>
              <a:rPr lang="en-IN" dirty="0"/>
              <a:t>Crowd density percentage</a:t>
            </a:r>
          </a:p>
          <a:p>
            <a:pPr lvl="1"/>
            <a:r>
              <a:rPr lang="en-IN" dirty="0"/>
              <a:t>Alert response time</a:t>
            </a:r>
          </a:p>
          <a:p>
            <a:pPr lvl="1"/>
            <a:r>
              <a:rPr lang="en-IN" dirty="0"/>
              <a:t>System latency</a:t>
            </a:r>
          </a:p>
        </p:txBody>
      </p:sp>
      <p:sp>
        <p:nvSpPr>
          <p:cNvPr id="4" name="Slide Number Placeholder 3">
            <a:extLst>
              <a:ext uri="{FF2B5EF4-FFF2-40B4-BE49-F238E27FC236}">
                <a16:creationId xmlns:a16="http://schemas.microsoft.com/office/drawing/2014/main" id="{2EC0B94B-8B58-B743-642F-97CF26BE5F50}"/>
              </a:ext>
            </a:extLst>
          </p:cNvPr>
          <p:cNvSpPr>
            <a:spLocks noGrp="1"/>
          </p:cNvSpPr>
          <p:nvPr>
            <p:ph type="sldNum" sz="quarter" idx="12"/>
          </p:nvPr>
        </p:nvSpPr>
        <p:spPr/>
        <p:txBody>
          <a:bodyPr/>
          <a:lstStyle/>
          <a:p>
            <a:fld id="{03F67448-8E76-4088-8C0F-9DC880FFD75C}" type="slidenum">
              <a:rPr lang="en-IN" smtClean="0"/>
              <a:t>14</a:t>
            </a:fld>
            <a:endParaRPr lang="en-IN"/>
          </a:p>
        </p:txBody>
      </p:sp>
    </p:spTree>
    <p:extLst>
      <p:ext uri="{BB962C8B-B14F-4D97-AF65-F5344CB8AC3E}">
        <p14:creationId xmlns:p14="http://schemas.microsoft.com/office/powerpoint/2010/main" val="1873923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2B18C-9296-85A6-20A3-599280A8E9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4144EE-66CB-B27E-D266-042A7A4CECA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D592D8-8317-FF74-19D5-7EFBD0B6F5BA}"/>
              </a:ext>
            </a:extLst>
          </p:cNvPr>
          <p:cNvSpPr>
            <a:spLocks noGrp="1"/>
          </p:cNvSpPr>
          <p:nvPr>
            <p:ph type="title"/>
          </p:nvPr>
        </p:nvSpPr>
        <p:spPr/>
        <p:txBody>
          <a:bodyPr>
            <a:normAutofit/>
          </a:bodyPr>
          <a:lstStyle/>
          <a:p>
            <a:r>
              <a:rPr lang="en-IN" dirty="0"/>
              <a:t>6. Analysis</a:t>
            </a:r>
          </a:p>
        </p:txBody>
      </p:sp>
      <p:sp>
        <p:nvSpPr>
          <p:cNvPr id="3" name="Content Placeholder 2">
            <a:extLst>
              <a:ext uri="{FF2B5EF4-FFF2-40B4-BE49-F238E27FC236}">
                <a16:creationId xmlns:a16="http://schemas.microsoft.com/office/drawing/2014/main" id="{CC187F22-84C8-F5B6-A053-D0BD980DA0B2}"/>
              </a:ext>
            </a:extLst>
          </p:cNvPr>
          <p:cNvSpPr>
            <a:spLocks noGrp="1"/>
          </p:cNvSpPr>
          <p:nvPr>
            <p:ph idx="1"/>
          </p:nvPr>
        </p:nvSpPr>
        <p:spPr/>
        <p:txBody>
          <a:bodyPr/>
          <a:lstStyle/>
          <a:p>
            <a:pPr marL="0" indent="0">
              <a:buNone/>
            </a:pPr>
            <a:r>
              <a:rPr lang="en-IN" b="1" dirty="0"/>
              <a:t>Results</a:t>
            </a:r>
          </a:p>
          <a:p>
            <a:r>
              <a:rPr lang="en-IN" dirty="0"/>
              <a:t>The system successfully detected and counted people in real time across all monitored zones.</a:t>
            </a:r>
          </a:p>
          <a:p>
            <a:r>
              <a:rPr lang="en-IN" dirty="0"/>
              <a:t>Crowd density levels were accurately classified into Green, Yellow, and Red categories.</a:t>
            </a:r>
          </a:p>
          <a:p>
            <a:r>
              <a:rPr lang="en-IN" dirty="0"/>
              <a:t>Alerts were triggered instantly when thresholds were exceeded, with effective cooldown management.</a:t>
            </a:r>
          </a:p>
          <a:p>
            <a:r>
              <a:rPr lang="en-IN" dirty="0"/>
              <a:t>WebSocket updates ensured near real-time dashboard refresh (every 2 seconds).</a:t>
            </a:r>
          </a:p>
        </p:txBody>
      </p:sp>
      <p:sp>
        <p:nvSpPr>
          <p:cNvPr id="4" name="Slide Number Placeholder 3">
            <a:extLst>
              <a:ext uri="{FF2B5EF4-FFF2-40B4-BE49-F238E27FC236}">
                <a16:creationId xmlns:a16="http://schemas.microsoft.com/office/drawing/2014/main" id="{1EBDBBFD-D163-FEDE-1D40-93158268BE73}"/>
              </a:ext>
            </a:extLst>
          </p:cNvPr>
          <p:cNvSpPr>
            <a:spLocks noGrp="1"/>
          </p:cNvSpPr>
          <p:nvPr>
            <p:ph type="sldNum" sz="quarter" idx="12"/>
          </p:nvPr>
        </p:nvSpPr>
        <p:spPr/>
        <p:txBody>
          <a:bodyPr/>
          <a:lstStyle/>
          <a:p>
            <a:fld id="{03F67448-8E76-4088-8C0F-9DC880FFD75C}" type="slidenum">
              <a:rPr lang="en-IN" smtClean="0"/>
              <a:t>15</a:t>
            </a:fld>
            <a:endParaRPr lang="en-IN"/>
          </a:p>
        </p:txBody>
      </p:sp>
    </p:spTree>
    <p:extLst>
      <p:ext uri="{BB962C8B-B14F-4D97-AF65-F5344CB8AC3E}">
        <p14:creationId xmlns:p14="http://schemas.microsoft.com/office/powerpoint/2010/main" val="802690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6812-BBC1-2147-257A-48C9D40640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3AE1485-14E7-932D-CFD7-88F468B8869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C7E1AD-2D46-F4E7-3961-164514A62465}"/>
              </a:ext>
            </a:extLst>
          </p:cNvPr>
          <p:cNvSpPr>
            <a:spLocks noGrp="1"/>
          </p:cNvSpPr>
          <p:nvPr>
            <p:ph type="title"/>
          </p:nvPr>
        </p:nvSpPr>
        <p:spPr/>
        <p:txBody>
          <a:bodyPr>
            <a:normAutofit/>
          </a:bodyPr>
          <a:lstStyle/>
          <a:p>
            <a:r>
              <a:rPr lang="en-IN" dirty="0"/>
              <a:t>6. Analysis</a:t>
            </a:r>
          </a:p>
        </p:txBody>
      </p:sp>
      <p:graphicFrame>
        <p:nvGraphicFramePr>
          <p:cNvPr id="5" name="Content Placeholder 4">
            <a:extLst>
              <a:ext uri="{FF2B5EF4-FFF2-40B4-BE49-F238E27FC236}">
                <a16:creationId xmlns:a16="http://schemas.microsoft.com/office/drawing/2014/main" id="{ADE5B6B0-B67C-0D01-1049-B60C56FD03D8}"/>
              </a:ext>
            </a:extLst>
          </p:cNvPr>
          <p:cNvGraphicFramePr>
            <a:graphicFrameLocks noGrp="1"/>
          </p:cNvGraphicFramePr>
          <p:nvPr>
            <p:ph idx="1"/>
            <p:extLst>
              <p:ext uri="{D42A27DB-BD31-4B8C-83A1-F6EECF244321}">
                <p14:modId xmlns:p14="http://schemas.microsoft.com/office/powerpoint/2010/main" val="4226265471"/>
              </p:ext>
            </p:extLst>
          </p:nvPr>
        </p:nvGraphicFramePr>
        <p:xfrm>
          <a:off x="838200" y="2598039"/>
          <a:ext cx="10515600" cy="2195322"/>
        </p:xfrm>
        <a:graphic>
          <a:graphicData uri="http://schemas.openxmlformats.org/drawingml/2006/table">
            <a:tbl>
              <a:tblPr/>
              <a:tblGrid>
                <a:gridCol w="3505200">
                  <a:extLst>
                    <a:ext uri="{9D8B030D-6E8A-4147-A177-3AD203B41FA5}">
                      <a16:colId xmlns:a16="http://schemas.microsoft.com/office/drawing/2014/main" val="1109818250"/>
                    </a:ext>
                  </a:extLst>
                </a:gridCol>
                <a:gridCol w="3505200">
                  <a:extLst>
                    <a:ext uri="{9D8B030D-6E8A-4147-A177-3AD203B41FA5}">
                      <a16:colId xmlns:a16="http://schemas.microsoft.com/office/drawing/2014/main" val="537455962"/>
                    </a:ext>
                  </a:extLst>
                </a:gridCol>
                <a:gridCol w="3505200">
                  <a:extLst>
                    <a:ext uri="{9D8B030D-6E8A-4147-A177-3AD203B41FA5}">
                      <a16:colId xmlns:a16="http://schemas.microsoft.com/office/drawing/2014/main" val="1002019417"/>
                    </a:ext>
                  </a:extLst>
                </a:gridCol>
              </a:tblGrid>
              <a:tr h="0">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Traditional Surveillance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Proposed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827134"/>
                  </a:ext>
                </a:extLst>
              </a:tr>
              <a:tr h="0">
                <a:tc>
                  <a:txBody>
                    <a:bodyPr/>
                    <a:lstStyle/>
                    <a:p>
                      <a:pPr>
                        <a:buNone/>
                      </a:pPr>
                      <a:r>
                        <a:rPr lang="en-IN"/>
                        <a:t>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Manual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Automated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681237"/>
                  </a:ext>
                </a:extLst>
              </a:tr>
              <a:tr h="0">
                <a:tc>
                  <a:txBody>
                    <a:bodyPr/>
                    <a:lstStyle/>
                    <a:p>
                      <a:pPr>
                        <a:buNone/>
                      </a:pPr>
                      <a:r>
                        <a:rPr lang="en-IN"/>
                        <a:t>Real-Time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866802"/>
                  </a:ext>
                </a:extLst>
              </a:tr>
              <a:tr h="0">
                <a:tc>
                  <a:txBody>
                    <a:bodyPr/>
                    <a:lstStyle/>
                    <a:p>
                      <a:pPr>
                        <a:buNone/>
                      </a:pPr>
                      <a:r>
                        <a:rPr lang="en-IN"/>
                        <a:t>Multi-Zone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2010772"/>
                  </a:ext>
                </a:extLst>
              </a:tr>
              <a:tr h="0">
                <a:tc>
                  <a:txBody>
                    <a:bodyPr/>
                    <a:lstStyle/>
                    <a:p>
                      <a:pPr>
                        <a:buNone/>
                      </a:pPr>
                      <a:r>
                        <a:rPr lang="en-IN"/>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Low–Moderate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2804572"/>
                  </a:ext>
                </a:extLst>
              </a:tr>
              <a:tr h="0">
                <a:tc>
                  <a:txBody>
                    <a:bodyPr/>
                    <a:lstStyle/>
                    <a:p>
                      <a:pPr>
                        <a:buNone/>
                      </a:pPr>
                      <a:r>
                        <a:rPr lang="en-IN"/>
                        <a:t>Response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Delayed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Instant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988383"/>
                  </a:ext>
                </a:extLst>
              </a:tr>
            </a:tbl>
          </a:graphicData>
        </a:graphic>
      </p:graphicFrame>
      <p:sp>
        <p:nvSpPr>
          <p:cNvPr id="4" name="Slide Number Placeholder 3">
            <a:extLst>
              <a:ext uri="{FF2B5EF4-FFF2-40B4-BE49-F238E27FC236}">
                <a16:creationId xmlns:a16="http://schemas.microsoft.com/office/drawing/2014/main" id="{841B3751-D03A-76FD-D5F7-F594B6406319}"/>
              </a:ext>
            </a:extLst>
          </p:cNvPr>
          <p:cNvSpPr>
            <a:spLocks noGrp="1"/>
          </p:cNvSpPr>
          <p:nvPr>
            <p:ph type="sldNum" sz="quarter" idx="12"/>
          </p:nvPr>
        </p:nvSpPr>
        <p:spPr/>
        <p:txBody>
          <a:bodyPr/>
          <a:lstStyle/>
          <a:p>
            <a:fld id="{03F67448-8E76-4088-8C0F-9DC880FFD75C}" type="slidenum">
              <a:rPr lang="en-IN" smtClean="0"/>
              <a:t>16</a:t>
            </a:fld>
            <a:endParaRPr lang="en-IN"/>
          </a:p>
        </p:txBody>
      </p:sp>
      <p:sp>
        <p:nvSpPr>
          <p:cNvPr id="7" name="TextBox 6">
            <a:extLst>
              <a:ext uri="{FF2B5EF4-FFF2-40B4-BE49-F238E27FC236}">
                <a16:creationId xmlns:a16="http://schemas.microsoft.com/office/drawing/2014/main" id="{86DC341C-8574-4673-3233-1FF3E9D64D2B}"/>
              </a:ext>
            </a:extLst>
          </p:cNvPr>
          <p:cNvSpPr txBox="1"/>
          <p:nvPr/>
        </p:nvSpPr>
        <p:spPr>
          <a:xfrm>
            <a:off x="763732" y="1789606"/>
            <a:ext cx="6099462" cy="369332"/>
          </a:xfrm>
          <a:prstGeom prst="rect">
            <a:avLst/>
          </a:prstGeom>
          <a:noFill/>
        </p:spPr>
        <p:txBody>
          <a:bodyPr wrap="square">
            <a:spAutoFit/>
          </a:bodyPr>
          <a:lstStyle/>
          <a:p>
            <a:pPr>
              <a:buNone/>
            </a:pPr>
            <a:r>
              <a:rPr lang="en-IN" b="1" dirty="0"/>
              <a:t>Comparative Performance</a:t>
            </a:r>
          </a:p>
        </p:txBody>
      </p:sp>
    </p:spTree>
    <p:extLst>
      <p:ext uri="{BB962C8B-B14F-4D97-AF65-F5344CB8AC3E}">
        <p14:creationId xmlns:p14="http://schemas.microsoft.com/office/powerpoint/2010/main" val="556751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160832-BD3E-41AF-DCA9-AF1840271114}"/>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5AEFC3-E899-AECC-1B35-F48657CA18EB}"/>
              </a:ext>
            </a:extLst>
          </p:cNvPr>
          <p:cNvSpPr>
            <a:spLocks noGrp="1"/>
          </p:cNvSpPr>
          <p:nvPr>
            <p:ph type="title"/>
          </p:nvPr>
        </p:nvSpPr>
        <p:spPr/>
        <p:txBody>
          <a:bodyPr/>
          <a:lstStyle/>
          <a:p>
            <a:r>
              <a:rPr lang="en-IN" b="1" dirty="0"/>
              <a:t>7. Conclusion</a:t>
            </a:r>
          </a:p>
        </p:txBody>
      </p:sp>
      <p:sp>
        <p:nvSpPr>
          <p:cNvPr id="3" name="Content Placeholder 2">
            <a:extLst>
              <a:ext uri="{FF2B5EF4-FFF2-40B4-BE49-F238E27FC236}">
                <a16:creationId xmlns:a16="http://schemas.microsoft.com/office/drawing/2014/main" id="{3BA5E50D-41F2-6407-BA80-EFD205D0FD82}"/>
              </a:ext>
            </a:extLst>
          </p:cNvPr>
          <p:cNvSpPr>
            <a:spLocks noGrp="1"/>
          </p:cNvSpPr>
          <p:nvPr>
            <p:ph idx="1"/>
          </p:nvPr>
        </p:nvSpPr>
        <p:spPr/>
        <p:txBody>
          <a:bodyPr>
            <a:normAutofit/>
          </a:bodyPr>
          <a:lstStyle/>
          <a:p>
            <a:pPr marL="0" indent="0" algn="just">
              <a:buNone/>
            </a:pPr>
            <a:r>
              <a:rPr lang="en-IN" dirty="0"/>
              <a:t>The AI-Driven Real-Time Crowd Management System successfully addresses the challenges of monitoring and managing crowds in public spaces. By leveraging YOLOv8-based computer vision, real-time analytics, and automated alert mechanisms, the system provides an efficient and scalable solution for enhancing public safety. The project achieves accurate people counting, continuous density monitoring, and timely notifications, enabling authorities to respond proactively to potential risks. Future enhancements may include integration with edge devices, advanced anomaly detection models, and deployment on cloud platforms for large-scale smart city applications.</a:t>
            </a:r>
          </a:p>
          <a:p>
            <a:pPr marL="0" indent="0" algn="just">
              <a:buNone/>
            </a:pPr>
            <a:endParaRPr lang="en-IN" dirty="0"/>
          </a:p>
        </p:txBody>
      </p:sp>
      <p:sp>
        <p:nvSpPr>
          <p:cNvPr id="4" name="Slide Number Placeholder 3">
            <a:extLst>
              <a:ext uri="{FF2B5EF4-FFF2-40B4-BE49-F238E27FC236}">
                <a16:creationId xmlns:a16="http://schemas.microsoft.com/office/drawing/2014/main" id="{287DB677-AEF1-8623-A9A8-B5C51AE73FFE}"/>
              </a:ext>
            </a:extLst>
          </p:cNvPr>
          <p:cNvSpPr>
            <a:spLocks noGrp="1"/>
          </p:cNvSpPr>
          <p:nvPr>
            <p:ph type="sldNum" sz="quarter" idx="12"/>
          </p:nvPr>
        </p:nvSpPr>
        <p:spPr/>
        <p:txBody>
          <a:bodyPr/>
          <a:lstStyle/>
          <a:p>
            <a:fld id="{03F67448-8E76-4088-8C0F-9DC880FFD75C}" type="slidenum">
              <a:rPr lang="en-IN" smtClean="0"/>
              <a:t>17</a:t>
            </a:fld>
            <a:endParaRPr lang="en-IN"/>
          </a:p>
        </p:txBody>
      </p:sp>
    </p:spTree>
    <p:extLst>
      <p:ext uri="{BB962C8B-B14F-4D97-AF65-F5344CB8AC3E}">
        <p14:creationId xmlns:p14="http://schemas.microsoft.com/office/powerpoint/2010/main" val="1097091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3FA32-7730-6F7F-20D3-67D33429C4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AA01EF-A541-452B-180B-B9F366AFF286}"/>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B7B6CBE-8384-0BAE-A5CC-786AA48585BC}"/>
              </a:ext>
            </a:extLst>
          </p:cNvPr>
          <p:cNvSpPr>
            <a:spLocks noGrp="1"/>
          </p:cNvSpPr>
          <p:nvPr>
            <p:ph type="title"/>
          </p:nvPr>
        </p:nvSpPr>
        <p:spPr/>
        <p:txBody>
          <a:bodyPr/>
          <a:lstStyle/>
          <a:p>
            <a:r>
              <a:rPr lang="en-IN" b="1" dirty="0"/>
              <a:t>8. References</a:t>
            </a:r>
          </a:p>
        </p:txBody>
      </p:sp>
      <p:sp>
        <p:nvSpPr>
          <p:cNvPr id="3" name="Content Placeholder 2">
            <a:extLst>
              <a:ext uri="{FF2B5EF4-FFF2-40B4-BE49-F238E27FC236}">
                <a16:creationId xmlns:a16="http://schemas.microsoft.com/office/drawing/2014/main" id="{725C5D01-BE71-9DE8-4D21-EE0BF4609DC7}"/>
              </a:ext>
            </a:extLst>
          </p:cNvPr>
          <p:cNvSpPr>
            <a:spLocks noGrp="1"/>
          </p:cNvSpPr>
          <p:nvPr>
            <p:ph idx="1"/>
          </p:nvPr>
        </p:nvSpPr>
        <p:spPr/>
        <p:txBody>
          <a:bodyPr>
            <a:normAutofit fontScale="77500" lnSpcReduction="20000"/>
          </a:bodyPr>
          <a:lstStyle/>
          <a:p>
            <a:pPr marL="0" indent="0" algn="just">
              <a:buNone/>
            </a:pPr>
            <a:r>
              <a:rPr lang="en-IN" dirty="0"/>
              <a:t>[1] G. </a:t>
            </a:r>
            <a:r>
              <a:rPr lang="en-IN" dirty="0" err="1"/>
              <a:t>Jocher</a:t>
            </a:r>
            <a:r>
              <a:rPr lang="en-IN" dirty="0"/>
              <a:t> et al., “YOLOv8: </a:t>
            </a:r>
            <a:r>
              <a:rPr lang="en-IN" dirty="0" err="1"/>
              <a:t>Ultralytics</a:t>
            </a:r>
            <a:r>
              <a:rPr lang="en-IN" dirty="0"/>
              <a:t> Real-Time Object Detection,” </a:t>
            </a:r>
            <a:r>
              <a:rPr lang="en-IN" dirty="0" err="1"/>
              <a:t>Ultralytics</a:t>
            </a:r>
            <a:r>
              <a:rPr lang="en-IN" dirty="0"/>
              <a:t>, 2023.</a:t>
            </a:r>
          </a:p>
          <a:p>
            <a:pPr marL="0" indent="0" algn="just">
              <a:buNone/>
            </a:pPr>
            <a:endParaRPr lang="en-IN" dirty="0"/>
          </a:p>
          <a:p>
            <a:pPr marL="0" indent="0" algn="just">
              <a:buNone/>
            </a:pPr>
            <a:r>
              <a:rPr lang="en-IN" dirty="0"/>
              <a:t>[2] J. Redmon et al., “You Only Look Once: Unified, Real-Time Object Detection,” </a:t>
            </a:r>
          </a:p>
          <a:p>
            <a:pPr marL="0" indent="0" algn="just">
              <a:buNone/>
            </a:pPr>
            <a:r>
              <a:rPr lang="en-IN" dirty="0"/>
              <a:t>    Proc. IEEE CVPR, pp. 779–788, 2016.</a:t>
            </a:r>
          </a:p>
          <a:p>
            <a:pPr marL="0" indent="0" algn="just">
              <a:buNone/>
            </a:pPr>
            <a:endParaRPr lang="en-IN" dirty="0"/>
          </a:p>
          <a:p>
            <a:pPr marL="0" indent="0" algn="just">
              <a:buNone/>
            </a:pPr>
            <a:r>
              <a:rPr lang="en-IN" dirty="0"/>
              <a:t>[3] A. </a:t>
            </a:r>
            <a:r>
              <a:rPr lang="en-IN" dirty="0" err="1"/>
              <a:t>Bochkovskiy</a:t>
            </a:r>
            <a:r>
              <a:rPr lang="en-IN" dirty="0"/>
              <a:t> et al., “YOLOv4: Optimal Speed and Accuracy of Object Detection,” </a:t>
            </a:r>
          </a:p>
          <a:p>
            <a:pPr marL="0" indent="0" algn="just">
              <a:buNone/>
            </a:pPr>
            <a:r>
              <a:rPr lang="en-IN" dirty="0"/>
              <a:t>    arXiv:2004.10934, 2020.</a:t>
            </a:r>
          </a:p>
          <a:p>
            <a:pPr marL="0" indent="0" algn="just">
              <a:buNone/>
            </a:pPr>
            <a:endParaRPr lang="en-IN" dirty="0"/>
          </a:p>
          <a:p>
            <a:pPr marL="0" indent="0" algn="just">
              <a:buNone/>
            </a:pPr>
            <a:r>
              <a:rPr lang="en-IN" dirty="0"/>
              <a:t>[4] L. Zhang et al., “Crowd Density Estimation Using Deep Learning,” </a:t>
            </a:r>
          </a:p>
          <a:p>
            <a:pPr marL="0" indent="0" algn="just">
              <a:buNone/>
            </a:pPr>
            <a:r>
              <a:rPr lang="en-IN" dirty="0"/>
              <a:t>    IEEE Trans. Image Process., vol. 24, no. 11, pp. 1–12, 2015.</a:t>
            </a:r>
          </a:p>
          <a:p>
            <a:pPr marL="0" indent="0" algn="just">
              <a:buNone/>
            </a:pPr>
            <a:endParaRPr lang="en-IN" dirty="0"/>
          </a:p>
          <a:p>
            <a:pPr marL="0" indent="0" algn="just">
              <a:buNone/>
            </a:pPr>
            <a:r>
              <a:rPr lang="en-IN" dirty="0"/>
              <a:t>[5] M. Li et al., “Video-Based Crowd Analysis Using CNNs,” </a:t>
            </a:r>
          </a:p>
          <a:p>
            <a:pPr marL="0" indent="0" algn="just">
              <a:buNone/>
            </a:pPr>
            <a:r>
              <a:rPr lang="en-IN" dirty="0"/>
              <a:t>    IEEE Access, vol. 6, pp. 12345–12356, 2018.</a:t>
            </a:r>
          </a:p>
        </p:txBody>
      </p:sp>
      <p:sp>
        <p:nvSpPr>
          <p:cNvPr id="4" name="Slide Number Placeholder 3">
            <a:extLst>
              <a:ext uri="{FF2B5EF4-FFF2-40B4-BE49-F238E27FC236}">
                <a16:creationId xmlns:a16="http://schemas.microsoft.com/office/drawing/2014/main" id="{48183B07-6507-43E6-52D6-F439D867F043}"/>
              </a:ext>
            </a:extLst>
          </p:cNvPr>
          <p:cNvSpPr>
            <a:spLocks noGrp="1"/>
          </p:cNvSpPr>
          <p:nvPr>
            <p:ph type="sldNum" sz="quarter" idx="12"/>
          </p:nvPr>
        </p:nvSpPr>
        <p:spPr/>
        <p:txBody>
          <a:bodyPr/>
          <a:lstStyle/>
          <a:p>
            <a:fld id="{03F67448-8E76-4088-8C0F-9DC880FFD75C}" type="slidenum">
              <a:rPr lang="en-IN" smtClean="0"/>
              <a:t>18</a:t>
            </a:fld>
            <a:endParaRPr lang="en-IN"/>
          </a:p>
        </p:txBody>
      </p:sp>
    </p:spTree>
    <p:extLst>
      <p:ext uri="{BB962C8B-B14F-4D97-AF65-F5344CB8AC3E}">
        <p14:creationId xmlns:p14="http://schemas.microsoft.com/office/powerpoint/2010/main" val="234308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BC865A-1294-AFC1-B8F2-F23FF735854F}"/>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E26637F-7D5B-6CFB-25D2-F4E0D0277B8C}"/>
              </a:ext>
            </a:extLst>
          </p:cNvPr>
          <p:cNvSpPr>
            <a:spLocks noGrp="1"/>
          </p:cNvSpPr>
          <p:nvPr>
            <p:ph type="title"/>
          </p:nvPr>
        </p:nvSpPr>
        <p:spPr/>
        <p:txBody>
          <a:bodyPr/>
          <a:lstStyle/>
          <a:p>
            <a:r>
              <a:rPr lang="en-IN" b="1" dirty="0"/>
              <a:t>8. References</a:t>
            </a:r>
          </a:p>
        </p:txBody>
      </p:sp>
      <p:sp>
        <p:nvSpPr>
          <p:cNvPr id="3" name="Content Placeholder 2">
            <a:extLst>
              <a:ext uri="{FF2B5EF4-FFF2-40B4-BE49-F238E27FC236}">
                <a16:creationId xmlns:a16="http://schemas.microsoft.com/office/drawing/2014/main" id="{DA1DED4A-44C0-E49A-5B18-6EBB45EC5356}"/>
              </a:ext>
            </a:extLst>
          </p:cNvPr>
          <p:cNvSpPr>
            <a:spLocks noGrp="1"/>
          </p:cNvSpPr>
          <p:nvPr>
            <p:ph idx="1"/>
          </p:nvPr>
        </p:nvSpPr>
        <p:spPr/>
        <p:txBody>
          <a:bodyPr>
            <a:normAutofit fontScale="70000" lnSpcReduction="20000"/>
          </a:bodyPr>
          <a:lstStyle/>
          <a:p>
            <a:pPr marL="0" indent="0" algn="just">
              <a:buNone/>
            </a:pPr>
            <a:r>
              <a:rPr lang="en-IN" dirty="0"/>
              <a:t>[6] R. Patel et al., “AI-Based Crowd Monitoring System for Public Safety,” </a:t>
            </a:r>
          </a:p>
          <a:p>
            <a:pPr marL="0" indent="0" algn="just">
              <a:buNone/>
            </a:pPr>
            <a:r>
              <a:rPr lang="en-IN" dirty="0"/>
              <a:t>    Proc. IEEE ICACCS, pp. 210–215, 2024.</a:t>
            </a:r>
          </a:p>
          <a:p>
            <a:pPr marL="0" indent="0" algn="just">
              <a:buNone/>
            </a:pPr>
            <a:endParaRPr lang="en-IN" dirty="0"/>
          </a:p>
          <a:p>
            <a:pPr marL="0" indent="0" algn="just">
              <a:buNone/>
            </a:pPr>
            <a:r>
              <a:rPr lang="en-IN" dirty="0"/>
              <a:t>[7] S. Kumar et al., “Smart Surveillance Using Deep Learning,” </a:t>
            </a:r>
          </a:p>
          <a:p>
            <a:pPr marL="0" indent="0" algn="just">
              <a:buNone/>
            </a:pPr>
            <a:r>
              <a:rPr lang="en-IN" dirty="0"/>
              <a:t>    Int. J. </a:t>
            </a:r>
            <a:r>
              <a:rPr lang="en-IN" dirty="0" err="1"/>
              <a:t>Comput</a:t>
            </a:r>
            <a:r>
              <a:rPr lang="en-IN" dirty="0"/>
              <a:t>. Vision, vol. 32, no. 4, 2022.</a:t>
            </a:r>
          </a:p>
          <a:p>
            <a:pPr marL="0" indent="0" algn="just">
              <a:buNone/>
            </a:pPr>
            <a:endParaRPr lang="en-IN" dirty="0"/>
          </a:p>
          <a:p>
            <a:pPr marL="0" indent="0" algn="just">
              <a:buNone/>
            </a:pPr>
            <a:r>
              <a:rPr lang="en-IN" dirty="0"/>
              <a:t>[8] X. Chen et al., “Real-Time People Counting Using YOLO,” </a:t>
            </a:r>
          </a:p>
          <a:p>
            <a:pPr marL="0" indent="0" algn="just">
              <a:buNone/>
            </a:pPr>
            <a:r>
              <a:rPr lang="en-IN" dirty="0"/>
              <a:t>    IEEE Sensors Journal, vol. 21, no. 9, 2021.</a:t>
            </a:r>
          </a:p>
          <a:p>
            <a:pPr marL="0" indent="0" algn="just">
              <a:buNone/>
            </a:pPr>
            <a:endParaRPr lang="en-IN" dirty="0"/>
          </a:p>
          <a:p>
            <a:pPr marL="0" indent="0" algn="just">
              <a:buNone/>
            </a:pPr>
            <a:r>
              <a:rPr lang="en-IN" dirty="0"/>
              <a:t>[9] M. Rezaei et al., “</a:t>
            </a:r>
            <a:r>
              <a:rPr lang="en-IN" dirty="0" err="1"/>
              <a:t>DeepSOCIAL</a:t>
            </a:r>
            <a:r>
              <a:rPr lang="en-IN" dirty="0"/>
              <a:t>: Social Distancing Monitoring,” </a:t>
            </a:r>
          </a:p>
          <a:p>
            <a:pPr marL="0" indent="0" algn="just">
              <a:buNone/>
            </a:pPr>
            <a:r>
              <a:rPr lang="en-IN" dirty="0"/>
              <a:t>    arXiv:2008.11672, 2020.</a:t>
            </a:r>
          </a:p>
          <a:p>
            <a:pPr marL="0" indent="0" algn="just">
              <a:buNone/>
            </a:pPr>
            <a:endParaRPr lang="en-IN" dirty="0"/>
          </a:p>
          <a:p>
            <a:pPr marL="0" indent="0" algn="just">
              <a:buNone/>
            </a:pPr>
            <a:r>
              <a:rPr lang="en-IN" dirty="0"/>
              <a:t>[10] A. </a:t>
            </a:r>
            <a:r>
              <a:rPr lang="en-IN" dirty="0" err="1"/>
              <a:t>Sindagi</a:t>
            </a:r>
            <a:r>
              <a:rPr lang="en-IN" dirty="0"/>
              <a:t> et al., “A Survey of Crowd Counting Methods,” </a:t>
            </a:r>
          </a:p>
          <a:p>
            <a:pPr marL="0" indent="0" algn="just">
              <a:buNone/>
            </a:pPr>
            <a:r>
              <a:rPr lang="en-IN" dirty="0"/>
              <a:t>     IEEE Trans. Circuits Syst. </a:t>
            </a:r>
            <a:r>
              <a:rPr lang="en-IN"/>
              <a:t>Video Technol., 2018.</a:t>
            </a:r>
            <a:endParaRPr lang="en-IN" dirty="0"/>
          </a:p>
        </p:txBody>
      </p:sp>
      <p:sp>
        <p:nvSpPr>
          <p:cNvPr id="4" name="Slide Number Placeholder 3">
            <a:extLst>
              <a:ext uri="{FF2B5EF4-FFF2-40B4-BE49-F238E27FC236}">
                <a16:creationId xmlns:a16="http://schemas.microsoft.com/office/drawing/2014/main" id="{A00A5347-A15A-AF7E-A24A-E7D29CDC0FA5}"/>
              </a:ext>
            </a:extLst>
          </p:cNvPr>
          <p:cNvSpPr>
            <a:spLocks noGrp="1"/>
          </p:cNvSpPr>
          <p:nvPr>
            <p:ph type="sldNum" sz="quarter" idx="12"/>
          </p:nvPr>
        </p:nvSpPr>
        <p:spPr/>
        <p:txBody>
          <a:bodyPr/>
          <a:lstStyle/>
          <a:p>
            <a:fld id="{03F67448-8E76-4088-8C0F-9DC880FFD75C}" type="slidenum">
              <a:rPr lang="en-IN" smtClean="0"/>
              <a:t>19</a:t>
            </a:fld>
            <a:endParaRPr lang="en-IN"/>
          </a:p>
        </p:txBody>
      </p:sp>
    </p:spTree>
    <p:extLst>
      <p:ext uri="{BB962C8B-B14F-4D97-AF65-F5344CB8AC3E}">
        <p14:creationId xmlns:p14="http://schemas.microsoft.com/office/powerpoint/2010/main" val="1912542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BCDA3C-BF57-0B0F-760D-40A8DB103B3E}"/>
              </a:ext>
            </a:extLst>
          </p:cNvPr>
          <p:cNvPicPr>
            <a:picLocks noChangeAspect="1"/>
          </p:cNvPicPr>
          <p:nvPr/>
        </p:nvPicPr>
        <p:blipFill>
          <a:blip r:embed="rId2"/>
          <a:stretch>
            <a:fillRect/>
          </a:stretch>
        </p:blipFill>
        <p:spPr>
          <a:xfrm>
            <a:off x="0" y="0"/>
            <a:ext cx="12192000" cy="6858000"/>
          </a:xfrm>
          <a:prstGeom prst="rect">
            <a:avLst/>
          </a:prstGeom>
        </p:spPr>
      </p:pic>
      <p:sp>
        <p:nvSpPr>
          <p:cNvPr id="2" name="TextBox 1"/>
          <p:cNvSpPr txBox="1"/>
          <p:nvPr/>
        </p:nvSpPr>
        <p:spPr>
          <a:xfrm>
            <a:off x="4815840" y="2682241"/>
            <a:ext cx="3177482" cy="830997"/>
          </a:xfrm>
          <a:prstGeom prst="rect">
            <a:avLst/>
          </a:prstGeom>
          <a:noFill/>
        </p:spPr>
        <p:txBody>
          <a:bodyPr wrap="square">
            <a:spAutoFit/>
          </a:bodyPr>
          <a:lstStyle/>
          <a:p>
            <a:r>
              <a:rPr lang="en-US" sz="4800" b="1" dirty="0">
                <a:latin typeface="Times New Roman" panose="02020603050405020304" pitchFamily="18" charset="0"/>
                <a:cs typeface="Times New Roman" panose="02020603050405020304" pitchFamily="18" charset="0"/>
              </a:rPr>
              <a:t>Thank You</a:t>
            </a:r>
            <a:endParaRPr sz="48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PhD_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rosted Glass">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hD_Theme" id="{75B492E9-CE18-4B4D-BE6D-57B3A7A6CA58}" vid="{D2D83074-D226-415D-BDF0-B9C503FED4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B57506-1FAE-475D-8D9C-F9B7351CCDB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PhD_Theme</Template>
  <TotalTime>3739</TotalTime>
  <Words>1855</Words>
  <Application>Microsoft Office PowerPoint</Application>
  <PresentationFormat>Widescreen</PresentationFormat>
  <Paragraphs>212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Times New Roman</vt:lpstr>
      <vt:lpstr>PhD_Theme</vt:lpstr>
      <vt:lpstr>THE SECOND INTERNATIONAL CONFERENCE ON RESEARCH AND DEVELOPMENT IN INFORMATION, COMMUNICATION AND COMPUTING TECHNOLOGIES (ICRDICCT-2026)</vt:lpstr>
      <vt:lpstr>Paper Presentation Details</vt:lpstr>
      <vt:lpstr>Table of Contents</vt:lpstr>
      <vt:lpstr>1. Abstract</vt:lpstr>
      <vt:lpstr>2. Introduction</vt:lpstr>
      <vt:lpstr>3. Related Work</vt:lpstr>
      <vt:lpstr>3. Related Work</vt:lpstr>
      <vt:lpstr>3. Related Work</vt:lpstr>
      <vt:lpstr>3. Related Work</vt:lpstr>
      <vt:lpstr>4. Proposed System</vt:lpstr>
      <vt:lpstr>4. Methodology</vt:lpstr>
      <vt:lpstr>5. Experimental Setup</vt:lpstr>
      <vt:lpstr>5. Experimental Setup</vt:lpstr>
      <vt:lpstr>6. Analysis</vt:lpstr>
      <vt:lpstr>6. Analysis</vt:lpstr>
      <vt:lpstr>6. Analysis</vt:lpstr>
      <vt:lpstr>7. Conclusion</vt:lpstr>
      <vt:lpstr>8. References</vt:lpstr>
      <vt:lpstr>8.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 Jukuntla</dc:creator>
  <cp:lastModifiedBy>Yaswanth Guptha</cp:lastModifiedBy>
  <cp:revision>283</cp:revision>
  <dcterms:created xsi:type="dcterms:W3CDTF">2024-10-05T17:41:04Z</dcterms:created>
  <dcterms:modified xsi:type="dcterms:W3CDTF">2026-04-08T18:35:52Z</dcterms:modified>
</cp:coreProperties>
</file>